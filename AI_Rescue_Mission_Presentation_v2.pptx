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8" r:id="rId1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9" r:id="rId18"/>
    <p:sldId id="270" r:id="rId19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5.xml"/><Relationship Id="rId16" Type="http://schemas.openxmlformats.org/officeDocument/2006/relationships/presProps" Target="presProps.xml"/><Relationship Id="rId17" Type="http://schemas.openxmlformats.org/officeDocument/2006/relationships/slide" Target="slides/slide5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91B4D1A-FC9E-4EDA-894D-6F4EC0B94AD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E129B9-19A2-4CA1-9AC2-96B39B3DA6C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F0C2C6-0002-46E7-8465-F404FB46C11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839A13-D36E-4A03-B18F-EFD4B553392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D9D723-44CF-4413-99A9-AF479419DA0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F806F5-881E-4402-A572-79590AD2609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65F8AE-0120-4155-BD2A-BD1127AC0AF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1C2C49-E818-44B7-9E2D-7AA30867AB6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596406-8782-47A7-96FC-5709C905C66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B3A76E-8263-464F-8ABE-DA7F1975D65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ECF3F2-58E8-43D8-8289-16EA6801A3A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BFF055-D7B5-4E7B-9DE2-6C06C72041A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0CFFCC-C017-44F2-AE08-8A9F9A71E34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redblobgames.com/pathfinding/a-star/introduction.htm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redblobgames.com/pathfinding/a-star/implementation.html" TargetMode="External"/><Relationship Id="rId3" Type="http://schemas.openxmlformats.org/officeDocument/2006/relationships/hyperlink" Target="https://www.redblobgames.com/pathfinding/tower-defense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30812"/>
          </a:solidFill>
          <a:ln w="12700">
            <a:solidFill>
              <a:srgbClr val="0308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 rot="900000">
            <a:off x="8366760" y="594360"/>
            <a:ext cx="3108600" cy="3108600"/>
          </a:xfrm>
          <a:prstGeom prst="arc">
            <a:avLst>
              <a:gd name="adj1" fmla="val 16200000"/>
              <a:gd name="adj2" fmla="val 0"/>
            </a:avLst>
          </a:prstGeom>
          <a:noFill/>
          <a:ln w="12700">
            <a:solidFill>
              <a:srgbClr val="00d8d6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9445680" y="1618560"/>
            <a:ext cx="959760" cy="959760"/>
          </a:xfrm>
          <a:prstGeom prst="ellipse">
            <a:avLst/>
          </a:prstGeom>
          <a:solidFill>
            <a:srgbClr val="00d8d6">
              <a:alpha val="22000"/>
            </a:srgbClr>
          </a:solidFill>
          <a:ln w="15240">
            <a:solidFill>
              <a:srgbClr val="00d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58440" y="585360"/>
            <a:ext cx="5943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21" strike="noStrike" u="none">
                <a:solidFill>
                  <a:srgbClr val="00d8d6"/>
                </a:solidFill>
                <a:effectLst/>
                <a:uFillTx/>
                <a:latin typeface="Aptos"/>
              </a:rPr>
              <a:t>FOUNDATION OF ARTIFICIAL INTELLIGENCE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58440" y="1170360"/>
            <a:ext cx="694908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AI RESCUE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MISSION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85800" y="2853000"/>
            <a:ext cx="6217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67f2ef"/>
                </a:solidFill>
                <a:effectLst/>
                <a:uFillTx/>
                <a:latin typeface="Aptos"/>
              </a:rPr>
              <a:t>Find the Best Path Using Heuristic Search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85800" y="3493080"/>
            <a:ext cx="6126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A playable Human Rover vs. Autonomous A* Cyber-Drone experience with a step-by-step search laboratory.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658440" y="4846320"/>
            <a:ext cx="10881000" cy="123408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932760" y="5102280"/>
            <a:ext cx="1508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50" strike="noStrike" u="none">
                <a:solidFill>
                  <a:srgbClr val="00d8d6"/>
                </a:solidFill>
                <a:effectLst/>
                <a:uFillTx/>
                <a:latin typeface="Aptos"/>
              </a:rPr>
              <a:t>TEAM MEMBERS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2606040" y="496512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Mukhesh Kumaar R 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2606040" y="537660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240701340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5623560" y="496512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Yuvaraja A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5623560" y="537660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240701809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8229600" y="491940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Rajalakshmi Engineering College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Department of Computer Science and Engineering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567000" y="6565320"/>
            <a:ext cx="36572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119" strike="noStrike" u="none">
                <a:solidFill>
                  <a:srgbClr val="4e6c7a"/>
                </a:solidFill>
                <a:effectLst/>
                <a:uFillTx/>
                <a:latin typeface="Aptos"/>
              </a:rPr>
              <a:t>AI RESCUE MISSION  /  CSE  /  2026</a:t>
            </a:r>
            <a:endParaRPr b="0" lang="en-US" sz="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/>
          <p:cNvSpPr/>
          <p:nvPr/>
        </p:nvSpPr>
        <p:spPr>
          <a:xfrm>
            <a:off x="567000" y="31104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01" strike="noStrike" u="none">
                <a:solidFill>
                  <a:srgbClr val="00d8d6"/>
                </a:solidFill>
                <a:effectLst/>
                <a:uFillTx/>
                <a:latin typeface="Aptos"/>
                <a:ea typeface="Aptos"/>
              </a:rPr>
              <a:t>PROJECT OVERVIEW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567000" y="62172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ecf7fa"/>
                </a:solidFill>
                <a:effectLst/>
                <a:uFillTx/>
                <a:latin typeface="Aptos Display"/>
                <a:ea typeface="Aptos Display"/>
              </a:rPr>
              <a:t>Abstract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11155680" y="34740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02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567000" y="1325880"/>
            <a:ext cx="658332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AI Rescue Mission transforms heuristic search into an observable, playable rescue problem.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4"/>
          <p:cNvSpPr/>
          <p:nvPr/>
        </p:nvSpPr>
        <p:spPr>
          <a:xfrm>
            <a:off x="658440" y="2212920"/>
            <a:ext cx="64918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A responsive educational web app for learning informed and uninformed search on disaster grids.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The player drives a Human Rescue Rover while an Autonomous Cyber-Drone follows a path computed by authentic A* search.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A laboratory visualizes open, explored, and final-path states with live g(n), h(n), and f(n) values.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BFS runs on the same map as a baseline, enabling a fair comparison of path optimality and exploration effort.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All logic executes locally in TypeScript: no database, external AI API, machine learning, or fabricated results.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5"/>
          <p:cNvSpPr/>
          <p:nvPr/>
        </p:nvSpPr>
        <p:spPr>
          <a:xfrm>
            <a:off x="7635240" y="1325880"/>
            <a:ext cx="3885840" cy="448020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 0" descr="01-home.png"/>
          <p:cNvPicPr/>
          <p:nvPr/>
        </p:nvPicPr>
        <p:blipFill>
          <a:blip r:embed="rId1"/>
          <a:srcRect l="0" t="53925" r="0" b="-53925"/>
          <a:stretch/>
        </p:blipFill>
        <p:spPr>
          <a:xfrm>
            <a:off x="7836480" y="1527120"/>
            <a:ext cx="349272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6"/>
          <p:cNvSpPr/>
          <p:nvPr/>
        </p:nvSpPr>
        <p:spPr>
          <a:xfrm>
            <a:off x="7818120" y="5925240"/>
            <a:ext cx="1005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150" strike="noStrike" u="none">
                <a:solidFill>
                  <a:srgbClr val="00d8d6"/>
                </a:solidFill>
                <a:effectLst/>
                <a:uFillTx/>
                <a:latin typeface="Aptos"/>
              </a:rPr>
              <a:t>KEY IDEA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7"/>
          <p:cNvSpPr/>
          <p:nvPr/>
        </p:nvSpPr>
        <p:spPr>
          <a:xfrm>
            <a:off x="8888040" y="5870520"/>
            <a:ext cx="2422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Turn search decisions into visible evidence.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8"/>
          <p:cNvSpPr/>
          <p:nvPr/>
        </p:nvSpPr>
        <p:spPr>
          <a:xfrm>
            <a:off x="567000" y="6565320"/>
            <a:ext cx="36572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119" strike="noStrike" u="none">
                <a:solidFill>
                  <a:srgbClr val="4e6c7a"/>
                </a:solidFill>
                <a:effectLst/>
                <a:uFillTx/>
                <a:latin typeface="Aptos"/>
              </a:rPr>
              <a:t>AI RESCUE MISSION  /  CSE  /  2026</a:t>
            </a:r>
            <a:endParaRPr b="0" lang="en-US" sz="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/>
          <p:nvPr/>
        </p:nvSpPr>
        <p:spPr>
          <a:xfrm>
            <a:off x="567000" y="31104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01" strike="noStrike" u="none">
                <a:solidFill>
                  <a:srgbClr val="00d8d6"/>
                </a:solidFill>
                <a:effectLst/>
                <a:uFillTx/>
                <a:latin typeface="Aptos"/>
                <a:ea typeface="Aptos"/>
              </a:rPr>
              <a:t>WHY THIS PROJECT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567000" y="62172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ecf7fa"/>
                </a:solidFill>
                <a:effectLst/>
                <a:uFillTx/>
                <a:latin typeface="Aptos Display"/>
                <a:ea typeface="Aptos Display"/>
              </a:rPr>
              <a:t>Problem Statement &amp; Objectives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"/>
          <p:cNvSpPr/>
          <p:nvPr/>
        </p:nvSpPr>
        <p:spPr>
          <a:xfrm>
            <a:off x="11155680" y="34740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03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3"/>
          <p:cNvSpPr/>
          <p:nvPr/>
        </p:nvSpPr>
        <p:spPr>
          <a:xfrm>
            <a:off x="567000" y="123444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Shortest-path algorithms are often taught as equations and pseudocode. Students struggle to see how each search decision changes the route.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4"/>
          <p:cNvSpPr/>
          <p:nvPr/>
        </p:nvSpPr>
        <p:spPr>
          <a:xfrm>
            <a:off x="567000" y="1993320"/>
            <a:ext cx="3428640" cy="141696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5"/>
          <p:cNvSpPr/>
          <p:nvPr/>
        </p:nvSpPr>
        <p:spPr>
          <a:xfrm>
            <a:off x="567000" y="1993320"/>
            <a:ext cx="54360" cy="1416960"/>
          </a:xfrm>
          <a:prstGeom prst="rect">
            <a:avLst/>
          </a:prstGeom>
          <a:solidFill>
            <a:srgbClr val="ff5566"/>
          </a:solidFill>
          <a:ln w="12700">
            <a:solidFill>
              <a:srgbClr val="ff55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6"/>
          <p:cNvSpPr/>
          <p:nvPr/>
        </p:nvSpPr>
        <p:spPr>
          <a:xfrm>
            <a:off x="749880" y="214884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f5566"/>
                </a:solidFill>
                <a:effectLst/>
                <a:uFillTx/>
                <a:latin typeface="Aptos"/>
              </a:rPr>
              <a:t>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7"/>
          <p:cNvSpPr/>
          <p:nvPr/>
        </p:nvSpPr>
        <p:spPr>
          <a:xfrm>
            <a:off x="1161360" y="215784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Learning gap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8"/>
          <p:cNvSpPr/>
          <p:nvPr/>
        </p:nvSpPr>
        <p:spPr>
          <a:xfrm>
            <a:off x="768240" y="2523600"/>
            <a:ext cx="302616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Static diagrams hide the open list, explored states, parent links, and tie-breaking decisions that shape a search.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9"/>
          <p:cNvSpPr/>
          <p:nvPr/>
        </p:nvSpPr>
        <p:spPr>
          <a:xfrm>
            <a:off x="4370760" y="1993320"/>
            <a:ext cx="3428640" cy="141696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0"/>
          <p:cNvSpPr/>
          <p:nvPr/>
        </p:nvSpPr>
        <p:spPr>
          <a:xfrm>
            <a:off x="4370760" y="1993320"/>
            <a:ext cx="54360" cy="1416960"/>
          </a:xfrm>
          <a:prstGeom prst="rect">
            <a:avLst/>
          </a:prstGeom>
          <a:solidFill>
            <a:srgbClr val="00d8d6"/>
          </a:solidFill>
          <a:ln w="12700">
            <a:solidFill>
              <a:srgbClr val="00d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4553640" y="214884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d8d6"/>
                </a:solidFill>
                <a:effectLst/>
                <a:uFillTx/>
                <a:latin typeface="Aptos"/>
              </a:rPr>
              <a:t>→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4965120" y="215784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Proposed solution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3"/>
          <p:cNvSpPr/>
          <p:nvPr/>
        </p:nvSpPr>
        <p:spPr>
          <a:xfrm>
            <a:off x="4572000" y="2523600"/>
            <a:ext cx="302616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An interactive rescue game plus an event-by-event simulator using one shared, real search engine.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4"/>
          <p:cNvSpPr/>
          <p:nvPr/>
        </p:nvSpPr>
        <p:spPr>
          <a:xfrm>
            <a:off x="8174880" y="1993320"/>
            <a:ext cx="3428640" cy="141696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5"/>
          <p:cNvSpPr/>
          <p:nvPr/>
        </p:nvSpPr>
        <p:spPr>
          <a:xfrm>
            <a:off x="8174880" y="1993320"/>
            <a:ext cx="54360" cy="1416960"/>
          </a:xfrm>
          <a:prstGeom prst="rect">
            <a:avLst/>
          </a:prstGeom>
          <a:solidFill>
            <a:srgbClr val="18d89b"/>
          </a:solidFill>
          <a:ln w="12700">
            <a:solidFill>
              <a:srgbClr val="18d8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6"/>
          <p:cNvSpPr/>
          <p:nvPr/>
        </p:nvSpPr>
        <p:spPr>
          <a:xfrm>
            <a:off x="8357760" y="214884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8d89b"/>
                </a:solidFill>
                <a:effectLst/>
                <a:uFillTx/>
                <a:latin typeface="Aptos"/>
              </a:rPr>
              <a:t>✓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7"/>
          <p:cNvSpPr/>
          <p:nvPr/>
        </p:nvSpPr>
        <p:spPr>
          <a:xfrm>
            <a:off x="8769240" y="215784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Expected value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8"/>
          <p:cNvSpPr/>
          <p:nvPr/>
        </p:nvSpPr>
        <p:spPr>
          <a:xfrm>
            <a:off x="8375760" y="2523600"/>
            <a:ext cx="302616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Learners connect path cost, heuristic estimates, algorithm behavior, and game performance through direct interaction.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9"/>
          <p:cNvSpPr/>
          <p:nvPr/>
        </p:nvSpPr>
        <p:spPr>
          <a:xfrm>
            <a:off x="640080" y="384048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01" strike="noStrike" u="none">
                <a:solidFill>
                  <a:srgbClr val="9a79ff"/>
                </a:solidFill>
                <a:effectLst/>
                <a:uFillTx/>
                <a:latin typeface="Aptos"/>
              </a:rPr>
              <a:t>PROJECT OBJECTIVES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0"/>
          <p:cNvSpPr/>
          <p:nvPr/>
        </p:nvSpPr>
        <p:spPr>
          <a:xfrm>
            <a:off x="658440" y="4233600"/>
            <a:ext cx="64004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Implement correct A* and BFS on four-direction unit-cost grids.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Visualize every search event and calculated score.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Compare algorithms on identical obstacle maps.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Make AI concepts engaging through race mechanics and responsive controls.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1"/>
          <p:cNvSpPr/>
          <p:nvPr/>
        </p:nvSpPr>
        <p:spPr>
          <a:xfrm>
            <a:off x="7635240" y="4206240"/>
            <a:ext cx="3337200" cy="502560"/>
          </a:xfrm>
          <a:prstGeom prst="rect">
            <a:avLst/>
          </a:prstGeom>
          <a:solidFill>
            <a:srgbClr val="0a1c2b"/>
          </a:solidFill>
          <a:ln w="12700">
            <a:solidFill>
              <a:srgbClr val="9a7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2"/>
          <p:cNvSpPr/>
          <p:nvPr/>
        </p:nvSpPr>
        <p:spPr>
          <a:xfrm>
            <a:off x="7745040" y="4316040"/>
            <a:ext cx="3117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9a79ff"/>
                </a:solidFill>
                <a:effectLst/>
                <a:uFillTx/>
                <a:latin typeface="Aptos Mono"/>
                <a:ea typeface="Aptos Mono"/>
              </a:rPr>
              <a:t>f(n) = g(n) + h(n)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3"/>
          <p:cNvSpPr/>
          <p:nvPr/>
        </p:nvSpPr>
        <p:spPr>
          <a:xfrm>
            <a:off x="7845480" y="4956120"/>
            <a:ext cx="30628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g(n)  actual cost already travelled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h(n)  Manhattan estimate to the goal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f(n)  total priority used by A*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4"/>
          <p:cNvSpPr/>
          <p:nvPr/>
        </p:nvSpPr>
        <p:spPr>
          <a:xfrm>
            <a:off x="567000" y="6565320"/>
            <a:ext cx="36572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119" strike="noStrike" u="none">
                <a:solidFill>
                  <a:srgbClr val="4e6c7a"/>
                </a:solidFill>
                <a:effectLst/>
                <a:uFillTx/>
                <a:latin typeface="Aptos"/>
              </a:rPr>
              <a:t>AI RESCUE MISSION  /  CSE  /  2026</a:t>
            </a:r>
            <a:endParaRPr b="0" lang="en-US" sz="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567000" y="31104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01" strike="noStrike" u="none">
                <a:solidFill>
                  <a:srgbClr val="00d8d6"/>
                </a:solidFill>
                <a:effectLst/>
                <a:uFillTx/>
                <a:latin typeface="Aptos"/>
                <a:ea typeface="Aptos"/>
              </a:rPr>
              <a:t>FOUNDATIONS INFORMING THE DESIGN  /  1 OF 2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567000" y="62172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ecf7fa"/>
                </a:solidFill>
                <a:effectLst/>
                <a:uFillTx/>
                <a:latin typeface="Aptos Display"/>
                <a:ea typeface="Aptos Display"/>
              </a:rPr>
              <a:t>Literature Survey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11155680" y="34740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04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567000" y="6565320"/>
            <a:ext cx="36572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119" strike="noStrike" u="none">
                <a:solidFill>
                  <a:srgbClr val="4e6c7a"/>
                </a:solidFill>
                <a:effectLst/>
                <a:uFillTx/>
                <a:latin typeface="Aptos"/>
              </a:rPr>
              <a:t>AI RESCUE MISSION  /  CSE  /  2026</a:t>
            </a:r>
            <a:endParaRPr b="0" lang="en-US" sz="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6" name="Table 65"/>
          <p:cNvGraphicFramePr>
            <a:graphicFrameLocks noGrp="1"/>
          </p:cNvGraphicFramePr>
          <p:nvPr/>
        </p:nvGraphicFramePr>
        <p:xfrm>
          <a:off x="621792" y="1417320"/>
          <a:ext cx="10927080" cy="3904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792"/>
                <a:gridCol w="2267712"/>
                <a:gridCol w="3474720"/>
                <a:gridCol w="4562856"/>
              </a:tblGrid>
              <a:tr h="48463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D8D6"/>
                          </a:solidFill>
                          <a:latin typeface="Aptos"/>
                        </a:defRPr>
                      </a:pPr>
                      <a:r>
                        <a:t>S.No.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D8D6"/>
                          </a:solidFill>
                          <a:latin typeface="Aptos"/>
                        </a:defRPr>
                      </a:pPr>
                      <a:r>
                        <a:t>Author / Source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D8D6"/>
                          </a:solidFill>
                          <a:latin typeface="Aptos"/>
                        </a:defRPr>
                      </a:pPr>
                      <a:r>
                        <a:t>Study / Topic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D8D6"/>
                          </a:solidFill>
                          <a:latin typeface="Aptos"/>
                        </a:defRPr>
                      </a:pPr>
                      <a:r>
                        <a:t>Key Findings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</a:tr>
              <a:tr h="124358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CF7FA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CF7FA"/>
                          </a:solidFill>
                          <a:latin typeface="Aptos"/>
                        </a:defRPr>
                      </a:pPr>
                      <a:r>
                        <a:t>Hart, Nilsson &amp; Raphael (1968)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CF7FA"/>
                          </a:solidFill>
                          <a:latin typeface="Aptos"/>
                        </a:defRPr>
                      </a:pPr>
                      <a:r>
                        <a:t>A Formal Basis for the Heuristic Determination of Minimum Cost Paths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CF7FA"/>
                          </a:solidFill>
                          <a:latin typeface="Aptos"/>
                        </a:defRPr>
                      </a:pPr>
                      <a:r>
                        <a:t>Introduced the A* search algorithm for finding minimum-cost paths using heuristic information.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CF7F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CF7FA"/>
                          </a:solidFill>
                          <a:latin typeface="Aptos"/>
                        </a:defRPr>
                      </a:pPr>
                      <a:r>
                        <a:t>Russell &amp; Norvig (2021)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CF7FA"/>
                          </a:solidFill>
                          <a:latin typeface="Aptos"/>
                        </a:defRPr>
                      </a:pPr>
                      <a:r>
                        <a:t>Artificial Intelligence: A Modern Approach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CF7FA"/>
                          </a:solidFill>
                          <a:latin typeface="Aptos"/>
                        </a:defRPr>
                      </a:pPr>
                      <a:r>
                        <a:t>Explains informed search, heuristic functions, A* search, and optimal solution finding.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</a:tr>
              <a:tr h="115214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CF7FA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CF7FA"/>
                          </a:solidFill>
                          <a:latin typeface="Aptos"/>
                        </a:defRPr>
                      </a:pPr>
                      <a:r>
                        <a:t>Amit Patel (2014)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CF7FA"/>
                          </a:solidFill>
                          <a:latin typeface="Aptos"/>
                        </a:defRPr>
                      </a:pPr>
                      <a:r>
                        <a:t>Introduction to the A* Algorithm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CF7FA"/>
                          </a:solidFill>
                          <a:latin typeface="Aptos"/>
                        </a:defRPr>
                      </a:pPr>
                      <a:r>
                        <a:t>Demonstrates A*, Breadth-First Search, and heuristic-based pathfinding using interactive visualizations.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567000" y="31104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01" strike="noStrike" u="none">
                <a:solidFill>
                  <a:srgbClr val="00d8d6"/>
                </a:solidFill>
                <a:effectLst/>
                <a:uFillTx/>
                <a:latin typeface="Aptos"/>
                <a:ea typeface="Aptos"/>
              </a:rPr>
              <a:t>FOUNDATIONS INFORMING THE DESIGN  /  2 OF 2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567000" y="62172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ecf7fa"/>
                </a:solidFill>
                <a:effectLst/>
                <a:uFillTx/>
                <a:latin typeface="Aptos Display"/>
                <a:ea typeface="Aptos Display"/>
              </a:rPr>
              <a:t>Literature Survey &amp; Research Gap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11155680" y="34740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05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567000" y="6565320"/>
            <a:ext cx="36572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119" strike="noStrike" u="none">
                <a:solidFill>
                  <a:srgbClr val="4e6c7a"/>
                </a:solidFill>
                <a:effectLst/>
                <a:uFillTx/>
                <a:latin typeface="Aptos"/>
              </a:rPr>
              <a:t>AI RESCUE MISSION  /  CSE  /  2026</a:t>
            </a:r>
            <a:endParaRPr b="0" lang="en-US" sz="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6" name="Table 65"/>
          <p:cNvGraphicFramePr>
            <a:graphicFrameLocks noGrp="1"/>
          </p:cNvGraphicFramePr>
          <p:nvPr/>
        </p:nvGraphicFramePr>
        <p:xfrm>
          <a:off x="621792" y="1417320"/>
          <a:ext cx="10927080" cy="2862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792"/>
                <a:gridCol w="2267712"/>
                <a:gridCol w="3474720"/>
                <a:gridCol w="4562856"/>
              </a:tblGrid>
              <a:tr h="48463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D8D6"/>
                          </a:solidFill>
                          <a:latin typeface="Aptos"/>
                        </a:defRPr>
                      </a:pPr>
                      <a:r>
                        <a:t>S.No.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D8D6"/>
                          </a:solidFill>
                          <a:latin typeface="Aptos"/>
                        </a:defRPr>
                      </a:pPr>
                      <a:r>
                        <a:t>Author / Source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D8D6"/>
                          </a:solidFill>
                          <a:latin typeface="Aptos"/>
                        </a:defRPr>
                      </a:pPr>
                      <a:r>
                        <a:t>Study / Topic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D8D6"/>
                          </a:solidFill>
                          <a:latin typeface="Aptos"/>
                        </a:defRPr>
                      </a:pPr>
                      <a:r>
                        <a:t>Key Findings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CF7FA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CF7FA"/>
                          </a:solidFill>
                          <a:latin typeface="Aptos"/>
                        </a:defRPr>
                      </a:pPr>
                      <a:r>
                        <a:t>Amit Patel (2022)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CF7FA"/>
                          </a:solidFill>
                          <a:latin typeface="Aptos"/>
                        </a:defRPr>
                      </a:pPr>
                      <a:r>
                        <a:t>Implementation of A*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CF7FA"/>
                          </a:solidFill>
                          <a:latin typeface="Aptos"/>
                        </a:defRPr>
                      </a:pPr>
                      <a:r>
                        <a:t>Explains the practical implementation of A*, path costs, priority queues, and heuristic calculations.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CF7FA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CF7FA"/>
                          </a:solidFill>
                          <a:latin typeface="Aptos"/>
                        </a:defRPr>
                      </a:pPr>
                      <a:r>
                        <a:t>Amit Patel (2014)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CF7FA"/>
                          </a:solidFill>
                          <a:latin typeface="Aptos"/>
                        </a:defRPr>
                      </a:pPr>
                      <a:r>
                        <a:t>Flow Field Pathfinding for Tower Defense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ECF7FA"/>
                          </a:solidFill>
                          <a:latin typeface="Aptos"/>
                        </a:defRPr>
                      </a:pPr>
                      <a:r>
                        <a:t>Explores pathfinding approaches and explains how search algorithms guide movement toward a destination.</a:t>
                      </a:r>
                    </a:p>
                  </a:txBody>
                  <a:tcPr marL="109728" marR="109728" marT="100584" marB="100584" anchor="t">
                    <a:solidFill>
                      <a:srgbClr val="071522"/>
                    </a:solidFill>
                  </a:tcPr>
                </a:tc>
              </a:tr>
            </a:tbl>
          </a:graphicData>
        </a:graphic>
      </p:graphicFrame>
      <p:sp>
        <p:nvSpPr>
          <p:cNvPr id="67" name="Rectangle 66"/>
          <p:cNvSpPr/>
          <p:nvPr/>
        </p:nvSpPr>
        <p:spPr>
          <a:xfrm>
            <a:off x="621792" y="4590288"/>
            <a:ext cx="10927080" cy="1481328"/>
          </a:xfrm>
          <a:prstGeom prst="rect">
            <a:avLst/>
          </a:prstGeom>
          <a:solidFill>
            <a:srgbClr val="071522"/>
          </a:solidFill>
          <a:ln>
            <a:solidFill>
              <a:srgbClr val="244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9536" y="4791456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0D8D6"/>
                </a:solidFill>
                <a:latin typeface="Aptos"/>
              </a:defRPr>
            </a:pPr>
            <a:r>
              <a:t>RESEARCH GAP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63240" y="4782312"/>
            <a:ext cx="80924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ECF7FA"/>
                </a:solidFill>
                <a:latin typeface="Aptos"/>
              </a:defRPr>
            </a:pPr>
            <a:r>
              <a:t>Understanding heuristic search can be difficult through theory alone. This project addresses the learning challenge by providing an interactive grid-based rescue simulation that visualizes A* search, Manhattan distance, explored nodes, and the final path.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567000" y="31104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01" strike="noStrike" u="none">
                <a:solidFill>
                  <a:srgbClr val="00d8d6"/>
                </a:solidFill>
                <a:effectLst/>
                <a:uFillTx/>
                <a:latin typeface="Aptos"/>
                <a:ea typeface="Aptos"/>
              </a:rPr>
              <a:t>CLIENT-SIDE DATA FLOW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567000" y="62172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ecf7fa"/>
                </a:solidFill>
                <a:effectLst/>
                <a:uFillTx/>
                <a:latin typeface="Aptos Display"/>
                <a:ea typeface="Aptos Display"/>
              </a:rPr>
              <a:t>System Architecture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11155680" y="34740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06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3"/>
          <p:cNvSpPr/>
          <p:nvPr/>
        </p:nvSpPr>
        <p:spPr>
          <a:xfrm>
            <a:off x="411480" y="2057400"/>
            <a:ext cx="1965600" cy="182844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594360" y="226764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d8d6"/>
                </a:solidFill>
                <a:effectLst/>
                <a:uFillTx/>
                <a:latin typeface="Aptos"/>
              </a:rPr>
              <a:t>01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594360" y="2651760"/>
            <a:ext cx="159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USER INPUT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594360" y="3090600"/>
            <a:ext cx="1599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Keyboard · WASD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Touch D-pad · Grid editor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2404800" y="2761560"/>
            <a:ext cx="502560" cy="383760"/>
          </a:xfrm>
          <a:prstGeom prst="chevron">
            <a:avLst>
              <a:gd name="adj" fmla="val 50000"/>
            </a:avLst>
          </a:prstGeom>
          <a:solidFill>
            <a:srgbClr val="00d8d6"/>
          </a:solidFill>
          <a:ln w="12700">
            <a:solidFill>
              <a:srgbClr val="00d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8"/>
          <p:cNvSpPr/>
          <p:nvPr/>
        </p:nvSpPr>
        <p:spPr>
          <a:xfrm>
            <a:off x="2651760" y="2057400"/>
            <a:ext cx="1965600" cy="182844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2834640" y="226764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d8d6"/>
                </a:solidFill>
                <a:effectLst/>
                <a:uFillTx/>
                <a:latin typeface="Aptos"/>
              </a:rPr>
              <a:t>02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0"/>
          <p:cNvSpPr/>
          <p:nvPr/>
        </p:nvSpPr>
        <p:spPr>
          <a:xfrm>
            <a:off x="2834640" y="2651760"/>
            <a:ext cx="159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REACT INTERFACE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1"/>
          <p:cNvSpPr/>
          <p:nvPr/>
        </p:nvSpPr>
        <p:spPr>
          <a:xfrm>
            <a:off x="2834640" y="3090600"/>
            <a:ext cx="1599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Race · Simulator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Field Manual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2"/>
          <p:cNvSpPr/>
          <p:nvPr/>
        </p:nvSpPr>
        <p:spPr>
          <a:xfrm>
            <a:off x="4645080" y="2761560"/>
            <a:ext cx="502560" cy="383760"/>
          </a:xfrm>
          <a:prstGeom prst="chevron">
            <a:avLst>
              <a:gd name="adj" fmla="val 50000"/>
            </a:avLst>
          </a:prstGeom>
          <a:solidFill>
            <a:srgbClr val="00d8d6"/>
          </a:solidFill>
          <a:ln w="12700">
            <a:solidFill>
              <a:srgbClr val="00d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3"/>
          <p:cNvSpPr/>
          <p:nvPr/>
        </p:nvSpPr>
        <p:spPr>
          <a:xfrm>
            <a:off x="4892040" y="2057400"/>
            <a:ext cx="1965600" cy="1828440"/>
          </a:xfrm>
          <a:prstGeom prst="rect">
            <a:avLst/>
          </a:prstGeom>
          <a:solidFill>
            <a:srgbClr val="0a1c2b"/>
          </a:solidFill>
          <a:ln w="19050">
            <a:solidFill>
              <a:srgbClr val="9a79ff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4"/>
          <p:cNvSpPr/>
          <p:nvPr/>
        </p:nvSpPr>
        <p:spPr>
          <a:xfrm>
            <a:off x="5074920" y="226764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9a79ff"/>
                </a:solidFill>
                <a:effectLst/>
                <a:uFillTx/>
                <a:latin typeface="Aptos"/>
              </a:rPr>
              <a:t>03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5"/>
          <p:cNvSpPr/>
          <p:nvPr/>
        </p:nvSpPr>
        <p:spPr>
          <a:xfrm>
            <a:off x="5074920" y="2651760"/>
            <a:ext cx="159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SEARCH ENGINE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6"/>
          <p:cNvSpPr/>
          <p:nvPr/>
        </p:nvSpPr>
        <p:spPr>
          <a:xfrm>
            <a:off x="5074920" y="3090600"/>
            <a:ext cx="1599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A* + Manhattan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BFS baseline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7"/>
          <p:cNvSpPr/>
          <p:nvPr/>
        </p:nvSpPr>
        <p:spPr>
          <a:xfrm>
            <a:off x="6885360" y="2761560"/>
            <a:ext cx="502560" cy="383760"/>
          </a:xfrm>
          <a:prstGeom prst="chevron">
            <a:avLst>
              <a:gd name="adj" fmla="val 50000"/>
            </a:avLst>
          </a:prstGeom>
          <a:solidFill>
            <a:srgbClr val="00d8d6"/>
          </a:solidFill>
          <a:ln w="12700">
            <a:solidFill>
              <a:srgbClr val="00d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8"/>
          <p:cNvSpPr/>
          <p:nvPr/>
        </p:nvSpPr>
        <p:spPr>
          <a:xfrm>
            <a:off x="7132320" y="2057400"/>
            <a:ext cx="1965600" cy="182844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9"/>
          <p:cNvSpPr/>
          <p:nvPr/>
        </p:nvSpPr>
        <p:spPr>
          <a:xfrm>
            <a:off x="7315200" y="226764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d8d6"/>
                </a:solidFill>
                <a:effectLst/>
                <a:uFillTx/>
                <a:latin typeface="Aptos"/>
              </a:rPr>
              <a:t>04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0"/>
          <p:cNvSpPr/>
          <p:nvPr/>
        </p:nvSpPr>
        <p:spPr>
          <a:xfrm>
            <a:off x="7315200" y="2651760"/>
            <a:ext cx="159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STATE &amp; TRACE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1"/>
          <p:cNvSpPr/>
          <p:nvPr/>
        </p:nvSpPr>
        <p:spPr>
          <a:xfrm>
            <a:off x="7315200" y="3090600"/>
            <a:ext cx="1599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Path · Scores · Events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Timer · Battery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22"/>
          <p:cNvSpPr/>
          <p:nvPr/>
        </p:nvSpPr>
        <p:spPr>
          <a:xfrm>
            <a:off x="9125640" y="2761560"/>
            <a:ext cx="502560" cy="383760"/>
          </a:xfrm>
          <a:prstGeom prst="chevron">
            <a:avLst>
              <a:gd name="adj" fmla="val 50000"/>
            </a:avLst>
          </a:prstGeom>
          <a:solidFill>
            <a:srgbClr val="00d8d6"/>
          </a:solidFill>
          <a:ln w="12700">
            <a:solidFill>
              <a:srgbClr val="00d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3"/>
          <p:cNvSpPr/>
          <p:nvPr/>
        </p:nvSpPr>
        <p:spPr>
          <a:xfrm>
            <a:off x="9372600" y="2057400"/>
            <a:ext cx="1965600" cy="182844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4"/>
          <p:cNvSpPr/>
          <p:nvPr/>
        </p:nvSpPr>
        <p:spPr>
          <a:xfrm>
            <a:off x="9555480" y="226764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d8d6"/>
                </a:solidFill>
                <a:effectLst/>
                <a:uFillTx/>
                <a:latin typeface="Aptos"/>
              </a:rPr>
              <a:t>05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5"/>
          <p:cNvSpPr/>
          <p:nvPr/>
        </p:nvSpPr>
        <p:spPr>
          <a:xfrm>
            <a:off x="9555480" y="2651760"/>
            <a:ext cx="159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VISUAL OUTPUT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6"/>
          <p:cNvSpPr/>
          <p:nvPr/>
        </p:nvSpPr>
        <p:spPr>
          <a:xfrm>
            <a:off x="9555480" y="3090600"/>
            <a:ext cx="1599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Grid animation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Analysis · Comparison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7"/>
          <p:cNvSpPr/>
          <p:nvPr/>
        </p:nvSpPr>
        <p:spPr>
          <a:xfrm>
            <a:off x="658440" y="459036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50" strike="noStrike" u="none">
                <a:solidFill>
                  <a:srgbClr val="18d89b"/>
                </a:solidFill>
                <a:effectLst/>
                <a:uFillTx/>
                <a:latin typeface="Aptos"/>
              </a:rPr>
              <a:t>IMPLEMENTATION BOUNDARY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8"/>
          <p:cNvSpPr/>
          <p:nvPr/>
        </p:nvSpPr>
        <p:spPr>
          <a:xfrm>
            <a:off x="640080" y="4956120"/>
            <a:ext cx="10881000" cy="987120"/>
          </a:xfrm>
          <a:prstGeom prst="rect">
            <a:avLst/>
          </a:prstGeom>
          <a:solidFill>
            <a:srgbClr val="071421"/>
          </a:solidFill>
          <a:ln w="12700">
            <a:solidFill>
              <a:srgbClr val="18d8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9"/>
          <p:cNvSpPr/>
          <p:nvPr/>
        </p:nvSpPr>
        <p:spPr>
          <a:xfrm>
            <a:off x="914400" y="5193720"/>
            <a:ext cx="2239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Browser-only execution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0"/>
          <p:cNvSpPr/>
          <p:nvPr/>
        </p:nvSpPr>
        <p:spPr>
          <a:xfrm>
            <a:off x="3246120" y="5203080"/>
            <a:ext cx="5394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7f2ef"/>
                </a:solidFill>
                <a:effectLst/>
                <a:uFillTx/>
                <a:latin typeface="Aptos"/>
              </a:rPr>
              <a:t>React 19  ·  TypeScript  ·  TanStack Start  ·  Tailwind CSS  ·  Web Audio API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1"/>
          <p:cNvSpPr/>
          <p:nvPr/>
        </p:nvSpPr>
        <p:spPr>
          <a:xfrm>
            <a:off x="8613720" y="520308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8d89b"/>
                </a:solidFill>
                <a:effectLst/>
                <a:uFillTx/>
                <a:latin typeface="Aptos"/>
              </a:rPr>
              <a:t>No backend  ·  No database  ·  No external AI API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2"/>
          <p:cNvSpPr/>
          <p:nvPr/>
        </p:nvSpPr>
        <p:spPr>
          <a:xfrm>
            <a:off x="567000" y="6565320"/>
            <a:ext cx="36572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119" strike="noStrike" u="none">
                <a:solidFill>
                  <a:srgbClr val="4e6c7a"/>
                </a:solidFill>
                <a:effectLst/>
                <a:uFillTx/>
                <a:latin typeface="Aptos"/>
              </a:rPr>
              <a:t>AI RESCUE MISSION  /  CSE  /  2026</a:t>
            </a:r>
            <a:endParaRPr b="0" lang="en-US" sz="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567000" y="31104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01" strike="noStrike" u="none">
                <a:solidFill>
                  <a:srgbClr val="00d8d6"/>
                </a:solidFill>
                <a:effectLst/>
                <a:uFillTx/>
                <a:latin typeface="Aptos"/>
                <a:ea typeface="Aptos"/>
              </a:rPr>
              <a:t>AUTHENTIC SEARCH UNDER THE HOOD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"/>
          <p:cNvSpPr/>
          <p:nvPr/>
        </p:nvSpPr>
        <p:spPr>
          <a:xfrm>
            <a:off x="567000" y="62172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ecf7fa"/>
                </a:solidFill>
                <a:effectLst/>
                <a:uFillTx/>
                <a:latin typeface="Aptos Display"/>
                <a:ea typeface="Aptos Display"/>
              </a:rPr>
              <a:t>Algorithms: A* and BFS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"/>
          <p:cNvSpPr/>
          <p:nvPr/>
        </p:nvSpPr>
        <p:spPr>
          <a:xfrm>
            <a:off x="11155680" y="34740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07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"/>
          <p:cNvSpPr/>
          <p:nvPr/>
        </p:nvSpPr>
        <p:spPr>
          <a:xfrm>
            <a:off x="594360" y="1353240"/>
            <a:ext cx="5257440" cy="443448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4"/>
          <p:cNvSpPr/>
          <p:nvPr/>
        </p:nvSpPr>
        <p:spPr>
          <a:xfrm>
            <a:off x="594360" y="1353240"/>
            <a:ext cx="54360" cy="4434480"/>
          </a:xfrm>
          <a:prstGeom prst="rect">
            <a:avLst/>
          </a:prstGeom>
          <a:solidFill>
            <a:srgbClr val="00d8d6"/>
          </a:solidFill>
          <a:ln w="12700">
            <a:solidFill>
              <a:srgbClr val="00d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5"/>
          <p:cNvSpPr/>
          <p:nvPr/>
        </p:nvSpPr>
        <p:spPr>
          <a:xfrm>
            <a:off x="795600" y="1517760"/>
            <a:ext cx="4854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A* — informed search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6"/>
          <p:cNvSpPr/>
          <p:nvPr/>
        </p:nvSpPr>
        <p:spPr>
          <a:xfrm>
            <a:off x="795600" y="1883520"/>
            <a:ext cx="4854960" cy="37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6" name="Shape 7"/>
          <p:cNvSpPr/>
          <p:nvPr/>
        </p:nvSpPr>
        <p:spPr>
          <a:xfrm>
            <a:off x="960120" y="1874520"/>
            <a:ext cx="4525920" cy="502560"/>
          </a:xfrm>
          <a:prstGeom prst="rect">
            <a:avLst/>
          </a:prstGeom>
          <a:solidFill>
            <a:srgbClr val="0a1c2b"/>
          </a:solidFill>
          <a:ln w="12700">
            <a:solidFill>
              <a:srgbClr val="00d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8"/>
          <p:cNvSpPr/>
          <p:nvPr/>
        </p:nvSpPr>
        <p:spPr>
          <a:xfrm>
            <a:off x="1069920" y="1984320"/>
            <a:ext cx="4306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0d8d6"/>
                </a:solidFill>
                <a:effectLst/>
                <a:uFillTx/>
                <a:latin typeface="Aptos Mono"/>
                <a:ea typeface="Aptos Mono"/>
              </a:rPr>
              <a:t>f(n) = g(n) + h(n)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9"/>
          <p:cNvSpPr/>
          <p:nvPr/>
        </p:nvSpPr>
        <p:spPr>
          <a:xfrm>
            <a:off x="932760" y="2697480"/>
            <a:ext cx="452592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Open list ordered by lowest f; ties use lower h, then insertion order.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Manhattan h(n) = |x − goalX| + |y − goalY|.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Parent links reconstruct the final path.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Closed set prevents repeated expansion.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With unit costs and admissible Manhattan distance, the returned route is optimal.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0"/>
          <p:cNvSpPr/>
          <p:nvPr/>
        </p:nvSpPr>
        <p:spPr>
          <a:xfrm>
            <a:off x="6309360" y="1353240"/>
            <a:ext cx="5257440" cy="443448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1"/>
          <p:cNvSpPr/>
          <p:nvPr/>
        </p:nvSpPr>
        <p:spPr>
          <a:xfrm>
            <a:off x="6309360" y="1353240"/>
            <a:ext cx="54360" cy="4434480"/>
          </a:xfrm>
          <a:prstGeom prst="rect">
            <a:avLst/>
          </a:prstGeom>
          <a:solidFill>
            <a:srgbClr val="9a79ff"/>
          </a:solidFill>
          <a:ln w="12700">
            <a:solidFill>
              <a:srgbClr val="9a7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2"/>
          <p:cNvSpPr/>
          <p:nvPr/>
        </p:nvSpPr>
        <p:spPr>
          <a:xfrm>
            <a:off x="6510600" y="1517760"/>
            <a:ext cx="4854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BFS — uninformed baseline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3"/>
          <p:cNvSpPr/>
          <p:nvPr/>
        </p:nvSpPr>
        <p:spPr>
          <a:xfrm>
            <a:off x="6510600" y="1883520"/>
            <a:ext cx="4854960" cy="37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3" name="Shape 14"/>
          <p:cNvSpPr/>
          <p:nvPr/>
        </p:nvSpPr>
        <p:spPr>
          <a:xfrm>
            <a:off x="6675120" y="1874520"/>
            <a:ext cx="4525920" cy="502560"/>
          </a:xfrm>
          <a:prstGeom prst="rect">
            <a:avLst/>
          </a:prstGeom>
          <a:solidFill>
            <a:srgbClr val="0a1c2b"/>
          </a:solidFill>
          <a:ln w="12700">
            <a:solidFill>
              <a:srgbClr val="9a7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5"/>
          <p:cNvSpPr/>
          <p:nvPr/>
        </p:nvSpPr>
        <p:spPr>
          <a:xfrm>
            <a:off x="6784920" y="1984320"/>
            <a:ext cx="4306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9a79ff"/>
                </a:solidFill>
                <a:effectLst/>
                <a:uFillTx/>
                <a:latin typeface="Aptos Mono"/>
                <a:ea typeface="Aptos Mono"/>
              </a:rPr>
              <a:t>FIFO queue · h(n) = 0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6"/>
          <p:cNvSpPr/>
          <p:nvPr/>
        </p:nvSpPr>
        <p:spPr>
          <a:xfrm>
            <a:off x="6647760" y="2697480"/>
            <a:ext cx="452592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Expands states in increasing depth order.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Uses the same four directions, obstacles, start, and goal.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Also finds a shortest path on unit-cost grids.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Typically explores more states because it has no goal estimate.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Provides a fair benchmark for evaluating heuristic guidance.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7"/>
          <p:cNvSpPr/>
          <p:nvPr/>
        </p:nvSpPr>
        <p:spPr>
          <a:xfrm>
            <a:off x="987480" y="5961960"/>
            <a:ext cx="10149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8d89b"/>
                </a:solidFill>
                <a:effectLst/>
                <a:uFillTx/>
                <a:latin typeface="Aptos"/>
              </a:rPr>
              <a:t>Both algorithms generate real event streams: step, node, g, h, f, parent, status, and open-list size.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8"/>
          <p:cNvSpPr/>
          <p:nvPr/>
        </p:nvSpPr>
        <p:spPr>
          <a:xfrm>
            <a:off x="567000" y="6565320"/>
            <a:ext cx="36572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119" strike="noStrike" u="none">
                <a:solidFill>
                  <a:srgbClr val="4e6c7a"/>
                </a:solidFill>
                <a:effectLst/>
                <a:uFillTx/>
                <a:latin typeface="Aptos"/>
              </a:rPr>
              <a:t>AI RESCUE MISSION  /  CSE  /  2026</a:t>
            </a:r>
            <a:endParaRPr b="0" lang="en-US" sz="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/>
          <p:nvPr/>
        </p:nvSpPr>
        <p:spPr>
          <a:xfrm>
            <a:off x="567000" y="31104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01" strike="noStrike" u="none">
                <a:solidFill>
                  <a:srgbClr val="00d8d6"/>
                </a:solidFill>
                <a:effectLst/>
                <a:uFillTx/>
                <a:latin typeface="Aptos"/>
                <a:ea typeface="Aptos"/>
              </a:rPr>
              <a:t>WHAT THE SYSTEM CONTAINS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567000" y="62172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ecf7fa"/>
                </a:solidFill>
                <a:effectLst/>
                <a:uFillTx/>
                <a:latin typeface="Aptos Display"/>
                <a:ea typeface="Aptos Display"/>
              </a:rPr>
              <a:t>Major Modules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"/>
          <p:cNvSpPr/>
          <p:nvPr/>
        </p:nvSpPr>
        <p:spPr>
          <a:xfrm>
            <a:off x="11155680" y="34740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08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640080" y="1280160"/>
            <a:ext cx="5394600" cy="125244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4"/>
          <p:cNvSpPr/>
          <p:nvPr/>
        </p:nvSpPr>
        <p:spPr>
          <a:xfrm>
            <a:off x="640080" y="1280160"/>
            <a:ext cx="54360" cy="1252440"/>
          </a:xfrm>
          <a:prstGeom prst="rect">
            <a:avLst/>
          </a:prstGeom>
          <a:solidFill>
            <a:srgbClr val="00d8d6"/>
          </a:solidFill>
          <a:ln w="12700">
            <a:solidFill>
              <a:srgbClr val="00d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841320" y="1444680"/>
            <a:ext cx="499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01  Rescue Race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841320" y="1810440"/>
            <a:ext cx="499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Campaign sectors, custom maps, countdown, keyboard/touch controls, battery, timer, and AI drone.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7"/>
          <p:cNvSpPr/>
          <p:nvPr/>
        </p:nvSpPr>
        <p:spPr>
          <a:xfrm>
            <a:off x="6144840" y="1280160"/>
            <a:ext cx="5394600" cy="125244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8"/>
          <p:cNvSpPr/>
          <p:nvPr/>
        </p:nvSpPr>
        <p:spPr>
          <a:xfrm>
            <a:off x="6144840" y="1280160"/>
            <a:ext cx="54360" cy="1252440"/>
          </a:xfrm>
          <a:prstGeom prst="rect">
            <a:avLst/>
          </a:prstGeom>
          <a:solidFill>
            <a:srgbClr val="00d8d6"/>
          </a:solidFill>
          <a:ln w="12700">
            <a:solidFill>
              <a:srgbClr val="00d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9"/>
          <p:cNvSpPr/>
          <p:nvPr/>
        </p:nvSpPr>
        <p:spPr>
          <a:xfrm>
            <a:off x="6346080" y="1444680"/>
            <a:ext cx="499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02  Search Engine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0"/>
          <p:cNvSpPr/>
          <p:nvPr/>
        </p:nvSpPr>
        <p:spPr>
          <a:xfrm>
            <a:off x="6346080" y="1810440"/>
            <a:ext cx="499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Reusable A*, BFS, Manhattan, Euclidean, Chebyshev, parent tracking, and event tracing.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1"/>
          <p:cNvSpPr/>
          <p:nvPr/>
        </p:nvSpPr>
        <p:spPr>
          <a:xfrm>
            <a:off x="640080" y="2862000"/>
            <a:ext cx="5394600" cy="125244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2"/>
          <p:cNvSpPr/>
          <p:nvPr/>
        </p:nvSpPr>
        <p:spPr>
          <a:xfrm>
            <a:off x="640080" y="2862000"/>
            <a:ext cx="54360" cy="1252440"/>
          </a:xfrm>
          <a:prstGeom prst="rect">
            <a:avLst/>
          </a:prstGeom>
          <a:solidFill>
            <a:srgbClr val="9a79ff"/>
          </a:solidFill>
          <a:ln w="12700">
            <a:solidFill>
              <a:srgbClr val="9a7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3"/>
          <p:cNvSpPr/>
          <p:nvPr/>
        </p:nvSpPr>
        <p:spPr>
          <a:xfrm>
            <a:off x="841320" y="3026520"/>
            <a:ext cx="499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03  A* Simulator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4"/>
          <p:cNvSpPr/>
          <p:nvPr/>
        </p:nvSpPr>
        <p:spPr>
          <a:xfrm>
            <a:off x="841320" y="3392280"/>
            <a:ext cx="499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Editable 10×10–15×15 grid, step/run controls, animation speeds, inspector, and trace table.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5"/>
          <p:cNvSpPr/>
          <p:nvPr/>
        </p:nvSpPr>
        <p:spPr>
          <a:xfrm>
            <a:off x="6144840" y="2862000"/>
            <a:ext cx="5394600" cy="125244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6"/>
          <p:cNvSpPr/>
          <p:nvPr/>
        </p:nvSpPr>
        <p:spPr>
          <a:xfrm>
            <a:off x="6144840" y="2862000"/>
            <a:ext cx="54360" cy="1252440"/>
          </a:xfrm>
          <a:prstGeom prst="rect">
            <a:avLst/>
          </a:prstGeom>
          <a:solidFill>
            <a:srgbClr val="9a79ff"/>
          </a:solidFill>
          <a:ln w="12700">
            <a:solidFill>
              <a:srgbClr val="9a7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7"/>
          <p:cNvSpPr/>
          <p:nvPr/>
        </p:nvSpPr>
        <p:spPr>
          <a:xfrm>
            <a:off x="6346080" y="3026520"/>
            <a:ext cx="499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04  Comparison Lab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8"/>
          <p:cNvSpPr/>
          <p:nvPr/>
        </p:nvSpPr>
        <p:spPr>
          <a:xfrm>
            <a:off x="6346080" y="3392280"/>
            <a:ext cx="499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Runs BFS and A* on the exact same map and reports cost, steps, and explored nodes.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9"/>
          <p:cNvSpPr/>
          <p:nvPr/>
        </p:nvSpPr>
        <p:spPr>
          <a:xfrm>
            <a:off x="640080" y="4443840"/>
            <a:ext cx="5394600" cy="125244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0"/>
          <p:cNvSpPr/>
          <p:nvPr/>
        </p:nvSpPr>
        <p:spPr>
          <a:xfrm>
            <a:off x="640080" y="4443840"/>
            <a:ext cx="54360" cy="1252440"/>
          </a:xfrm>
          <a:prstGeom prst="rect">
            <a:avLst/>
          </a:prstGeom>
          <a:solidFill>
            <a:srgbClr val="18d89b"/>
          </a:solidFill>
          <a:ln w="12700">
            <a:solidFill>
              <a:srgbClr val="18d8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1"/>
          <p:cNvSpPr/>
          <p:nvPr/>
        </p:nvSpPr>
        <p:spPr>
          <a:xfrm>
            <a:off x="841320" y="4608720"/>
            <a:ext cx="499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05  Challenges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2"/>
          <p:cNvSpPr/>
          <p:nvPr/>
        </p:nvSpPr>
        <p:spPr>
          <a:xfrm>
            <a:off x="841320" y="4974480"/>
            <a:ext cx="499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Five deterministic educational maps plus five progressive race sectors.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23"/>
          <p:cNvSpPr/>
          <p:nvPr/>
        </p:nvSpPr>
        <p:spPr>
          <a:xfrm>
            <a:off x="6144840" y="4443840"/>
            <a:ext cx="5394600" cy="125244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24"/>
          <p:cNvSpPr/>
          <p:nvPr/>
        </p:nvSpPr>
        <p:spPr>
          <a:xfrm>
            <a:off x="6144840" y="4443840"/>
            <a:ext cx="54360" cy="1252440"/>
          </a:xfrm>
          <a:prstGeom prst="rect">
            <a:avLst/>
          </a:prstGeom>
          <a:solidFill>
            <a:srgbClr val="18d89b"/>
          </a:solidFill>
          <a:ln w="12700">
            <a:solidFill>
              <a:srgbClr val="18d8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5"/>
          <p:cNvSpPr/>
          <p:nvPr/>
        </p:nvSpPr>
        <p:spPr>
          <a:xfrm>
            <a:off x="6346080" y="4608720"/>
            <a:ext cx="499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06  Field Manual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6"/>
          <p:cNvSpPr/>
          <p:nvPr/>
        </p:nvSpPr>
        <p:spPr>
          <a:xfrm>
            <a:off x="6346080" y="4974480"/>
            <a:ext cx="499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Problem formulation, heuristic laboratory, AI concepts, pseudocode, applications, and outcomes.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7"/>
          <p:cNvSpPr/>
          <p:nvPr/>
        </p:nvSpPr>
        <p:spPr>
          <a:xfrm>
            <a:off x="567000" y="6565320"/>
            <a:ext cx="36572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119" strike="noStrike" u="none">
                <a:solidFill>
                  <a:srgbClr val="4e6c7a"/>
                </a:solidFill>
                <a:effectLst/>
                <a:uFillTx/>
                <a:latin typeface="Aptos"/>
              </a:rPr>
              <a:t>AI RESCUE MISSION  /  CSE  /  2026</a:t>
            </a:r>
            <a:endParaRPr b="0" lang="en-US" sz="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567000" y="31104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01" strike="noStrike" u="none">
                <a:solidFill>
                  <a:srgbClr val="00d8d6"/>
                </a:solidFill>
                <a:effectLst/>
                <a:uFillTx/>
                <a:latin typeface="Aptos"/>
                <a:ea typeface="Aptos"/>
              </a:rPr>
              <a:t>PLAYABLE EXPERIENCE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567000" y="62172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ecf7fa"/>
                </a:solidFill>
                <a:effectLst/>
                <a:uFillTx/>
                <a:latin typeface="Aptos Display"/>
                <a:ea typeface="Aptos Display"/>
              </a:rPr>
              <a:t>Output: Player vs. AI Rescue Race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11155680" y="34740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09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9" name="Image 0" descr="02-race-ready.png"/>
          <p:cNvPicPr/>
          <p:nvPr/>
        </p:nvPicPr>
        <p:blipFill>
          <a:blip r:embed="rId1"/>
          <a:stretch/>
        </p:blipFill>
        <p:spPr>
          <a:xfrm>
            <a:off x="567000" y="1243440"/>
            <a:ext cx="7040520" cy="498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Shape 3"/>
          <p:cNvSpPr/>
          <p:nvPr/>
        </p:nvSpPr>
        <p:spPr>
          <a:xfrm>
            <a:off x="7882200" y="1325880"/>
            <a:ext cx="3611520" cy="452592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4"/>
          <p:cNvSpPr/>
          <p:nvPr/>
        </p:nvSpPr>
        <p:spPr>
          <a:xfrm>
            <a:off x="8183880" y="162756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50" strike="noStrike" u="none">
                <a:solidFill>
                  <a:srgbClr val="00d8d6"/>
                </a:solidFill>
                <a:effectLst/>
                <a:uFillTx/>
                <a:latin typeface="Aptos"/>
              </a:rPr>
              <a:t>GAME FEATURES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8156520" y="2084760"/>
            <a:ext cx="29714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Five campaign sectors with progressive layouts.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Human Rover: Arrow keys, WASD, or touch D-pad.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Cyber-Drone follows the real A* optimal path.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Ready–Set–GO countdown, battery cost, and stopwatch.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Custom obstacle editing and solvable Random City maps.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Post-race efficiency analysis and AI radar reveal.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6"/>
          <p:cNvSpPr/>
          <p:nvPr/>
        </p:nvSpPr>
        <p:spPr>
          <a:xfrm>
            <a:off x="8183880" y="5459040"/>
            <a:ext cx="2788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8d89b"/>
                </a:solidFill>
                <a:effectLst/>
                <a:uFillTx/>
                <a:latin typeface="Aptos"/>
              </a:rPr>
              <a:t>Every rover move costs one unit of g(n).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567000" y="6565320"/>
            <a:ext cx="36572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119" strike="noStrike" u="none">
                <a:solidFill>
                  <a:srgbClr val="4e6c7a"/>
                </a:solidFill>
                <a:effectLst/>
                <a:uFillTx/>
                <a:latin typeface="Aptos"/>
              </a:rPr>
              <a:t>AI RESCUE MISSION  /  CSE  /  2026</a:t>
            </a:r>
            <a:endParaRPr b="0" lang="en-US" sz="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0"/>
          <p:cNvSpPr/>
          <p:nvPr/>
        </p:nvSpPr>
        <p:spPr>
          <a:xfrm>
            <a:off x="567000" y="31104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01" strike="noStrike" u="none">
                <a:solidFill>
                  <a:srgbClr val="00d8d6"/>
                </a:solidFill>
                <a:effectLst/>
                <a:uFillTx/>
                <a:latin typeface="Aptos"/>
                <a:ea typeface="Aptos"/>
              </a:rPr>
              <a:t>INSPECT EVERY DECISION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"/>
          <p:cNvSpPr/>
          <p:nvPr/>
        </p:nvSpPr>
        <p:spPr>
          <a:xfrm>
            <a:off x="567000" y="62172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ecf7fa"/>
                </a:solidFill>
                <a:effectLst/>
                <a:uFillTx/>
                <a:latin typeface="Aptos Display"/>
                <a:ea typeface="Aptos Display"/>
              </a:rPr>
              <a:t>Output: A* Search Simulator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"/>
          <p:cNvSpPr/>
          <p:nvPr/>
        </p:nvSpPr>
        <p:spPr>
          <a:xfrm>
            <a:off x="11155680" y="34740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10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8" name="Image 0" descr="04-simulator.png"/>
          <p:cNvPicPr/>
          <p:nvPr/>
        </p:nvPicPr>
        <p:blipFill>
          <a:blip r:embed="rId1"/>
          <a:stretch/>
        </p:blipFill>
        <p:spPr>
          <a:xfrm>
            <a:off x="567000" y="1243440"/>
            <a:ext cx="7086240" cy="507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Shape 3"/>
          <p:cNvSpPr/>
          <p:nvPr/>
        </p:nvSpPr>
        <p:spPr>
          <a:xfrm>
            <a:off x="7973640" y="1325880"/>
            <a:ext cx="3529080" cy="109692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4"/>
          <p:cNvSpPr/>
          <p:nvPr/>
        </p:nvSpPr>
        <p:spPr>
          <a:xfrm>
            <a:off x="7973640" y="1325880"/>
            <a:ext cx="54360" cy="1096920"/>
          </a:xfrm>
          <a:prstGeom prst="rect">
            <a:avLst/>
          </a:prstGeom>
          <a:solidFill>
            <a:srgbClr val="00d8d6"/>
          </a:solidFill>
          <a:ln w="12700">
            <a:solidFill>
              <a:srgbClr val="00d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5"/>
          <p:cNvSpPr/>
          <p:nvPr/>
        </p:nvSpPr>
        <p:spPr>
          <a:xfrm>
            <a:off x="8174880" y="1490400"/>
            <a:ext cx="312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Editable grid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8174880" y="1856160"/>
            <a:ext cx="3126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Place start, goal, walls, or erase cells; select grid sizes from 10×10 to 15×15.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7"/>
          <p:cNvSpPr/>
          <p:nvPr/>
        </p:nvSpPr>
        <p:spPr>
          <a:xfrm>
            <a:off x="7973640" y="2651760"/>
            <a:ext cx="3529080" cy="109692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8"/>
          <p:cNvSpPr/>
          <p:nvPr/>
        </p:nvSpPr>
        <p:spPr>
          <a:xfrm>
            <a:off x="7973640" y="2651760"/>
            <a:ext cx="54360" cy="1096920"/>
          </a:xfrm>
          <a:prstGeom prst="rect">
            <a:avLst/>
          </a:prstGeom>
          <a:solidFill>
            <a:srgbClr val="9a79ff"/>
          </a:solidFill>
          <a:ln w="12700">
            <a:solidFill>
              <a:srgbClr val="9a7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9"/>
          <p:cNvSpPr/>
          <p:nvPr/>
        </p:nvSpPr>
        <p:spPr>
          <a:xfrm>
            <a:off x="8174880" y="2816280"/>
            <a:ext cx="312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Live analyzer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0"/>
          <p:cNvSpPr/>
          <p:nvPr/>
        </p:nvSpPr>
        <p:spPr>
          <a:xfrm>
            <a:off x="8174880" y="3182040"/>
            <a:ext cx="3126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Hover a node to inspect coordinates and its real g(n), h(n), and f(n) values.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1"/>
          <p:cNvSpPr/>
          <p:nvPr/>
        </p:nvSpPr>
        <p:spPr>
          <a:xfrm>
            <a:off x="7973640" y="3977640"/>
            <a:ext cx="3529080" cy="109692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2"/>
          <p:cNvSpPr/>
          <p:nvPr/>
        </p:nvSpPr>
        <p:spPr>
          <a:xfrm>
            <a:off x="7973640" y="3977640"/>
            <a:ext cx="54360" cy="1096920"/>
          </a:xfrm>
          <a:prstGeom prst="rect">
            <a:avLst/>
          </a:prstGeom>
          <a:solidFill>
            <a:srgbClr val="18d89b"/>
          </a:solidFill>
          <a:ln w="12700">
            <a:solidFill>
              <a:srgbClr val="18d8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3"/>
          <p:cNvSpPr/>
          <p:nvPr/>
        </p:nvSpPr>
        <p:spPr>
          <a:xfrm>
            <a:off x="8174880" y="4142160"/>
            <a:ext cx="312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Execution trace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4"/>
          <p:cNvSpPr/>
          <p:nvPr/>
        </p:nvSpPr>
        <p:spPr>
          <a:xfrm>
            <a:off x="8174880" y="4507920"/>
            <a:ext cx="3126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Replay or step through open-list additions, explored nodes, parents, and final path.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5"/>
          <p:cNvSpPr/>
          <p:nvPr/>
        </p:nvSpPr>
        <p:spPr>
          <a:xfrm>
            <a:off x="7973640" y="5394960"/>
            <a:ext cx="3529080" cy="502560"/>
          </a:xfrm>
          <a:prstGeom prst="rect">
            <a:avLst/>
          </a:prstGeom>
          <a:solidFill>
            <a:srgbClr val="0a1c2b"/>
          </a:solidFill>
          <a:ln w="12700">
            <a:solidFill>
              <a:srgbClr val="ffc8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6"/>
          <p:cNvSpPr/>
          <p:nvPr/>
        </p:nvSpPr>
        <p:spPr>
          <a:xfrm>
            <a:off x="8083440" y="5504760"/>
            <a:ext cx="3309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c857"/>
                </a:solidFill>
                <a:effectLst/>
                <a:uFillTx/>
                <a:latin typeface="Aptos Mono"/>
                <a:ea typeface="Aptos Mono"/>
              </a:rPr>
              <a:t>Manhattan: |Δx| + |Δy|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7"/>
          <p:cNvSpPr/>
          <p:nvPr/>
        </p:nvSpPr>
        <p:spPr>
          <a:xfrm>
            <a:off x="567000" y="6565320"/>
            <a:ext cx="36572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119" strike="noStrike" u="none">
                <a:solidFill>
                  <a:srgbClr val="4e6c7a"/>
                </a:solidFill>
                <a:effectLst/>
                <a:uFillTx/>
                <a:latin typeface="Aptos"/>
              </a:rPr>
              <a:t>AI RESCUE MISSION  /  CSE  /  2026</a:t>
            </a:r>
            <a:endParaRPr b="0" lang="en-US" sz="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567000" y="31104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01" strike="noStrike" u="none">
                <a:solidFill>
                  <a:srgbClr val="00d8d6"/>
                </a:solidFill>
                <a:effectLst/>
                <a:uFillTx/>
                <a:latin typeface="Aptos"/>
                <a:ea typeface="Aptos"/>
              </a:rPr>
              <a:t>MEASURED ON FIVE PREDEFINED CHALLENGES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567000" y="62172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ecf7fa"/>
                </a:solidFill>
                <a:effectLst/>
                <a:uFillTx/>
                <a:latin typeface="Aptos Display"/>
                <a:ea typeface="Aptos Display"/>
              </a:rPr>
              <a:t>Results &amp; Performance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"/>
          <p:cNvSpPr/>
          <p:nvPr/>
        </p:nvSpPr>
        <p:spPr>
          <a:xfrm>
            <a:off x="11155680" y="34740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11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"/>
          <p:cNvSpPr/>
          <p:nvPr/>
        </p:nvSpPr>
        <p:spPr>
          <a:xfrm>
            <a:off x="658440" y="164592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Easy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4"/>
          <p:cNvSpPr/>
          <p:nvPr/>
        </p:nvSpPr>
        <p:spPr>
          <a:xfrm>
            <a:off x="1691640" y="1481400"/>
            <a:ext cx="5394600" cy="25560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5"/>
          <p:cNvSpPr/>
          <p:nvPr/>
        </p:nvSpPr>
        <p:spPr>
          <a:xfrm>
            <a:off x="1691640" y="1481400"/>
            <a:ext cx="499320" cy="109440"/>
          </a:xfrm>
          <a:prstGeom prst="rect">
            <a:avLst/>
          </a:prstGeom>
          <a:solidFill>
            <a:srgbClr val="00d8d6"/>
          </a:solidFill>
          <a:ln w="12700">
            <a:solidFill>
              <a:srgbClr val="00d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6"/>
          <p:cNvSpPr/>
          <p:nvPr/>
        </p:nvSpPr>
        <p:spPr>
          <a:xfrm>
            <a:off x="1691640" y="1627560"/>
            <a:ext cx="2930400" cy="109440"/>
          </a:xfrm>
          <a:prstGeom prst="rect">
            <a:avLst/>
          </a:prstGeom>
          <a:solidFill>
            <a:srgbClr val="9a79ff"/>
          </a:solidFill>
          <a:ln w="12700">
            <a:solidFill>
              <a:srgbClr val="9a7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7"/>
          <p:cNvSpPr/>
          <p:nvPr/>
        </p:nvSpPr>
        <p:spPr>
          <a:xfrm>
            <a:off x="7159680" y="1463040"/>
            <a:ext cx="3196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00d8d6"/>
                </a:solidFill>
                <a:effectLst/>
                <a:uFillTx/>
                <a:latin typeface="Aptos"/>
              </a:rPr>
              <a:t>15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8"/>
          <p:cNvSpPr/>
          <p:nvPr/>
        </p:nvSpPr>
        <p:spPr>
          <a:xfrm>
            <a:off x="7159680" y="1618560"/>
            <a:ext cx="3196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9a79ff"/>
                </a:solidFill>
                <a:effectLst/>
                <a:uFillTx/>
                <a:latin typeface="Aptos"/>
              </a:rPr>
              <a:t>88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9"/>
          <p:cNvSpPr/>
          <p:nvPr/>
        </p:nvSpPr>
        <p:spPr>
          <a:xfrm>
            <a:off x="658440" y="24321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Blocked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0"/>
          <p:cNvSpPr/>
          <p:nvPr/>
        </p:nvSpPr>
        <p:spPr>
          <a:xfrm>
            <a:off x="1691640" y="2267640"/>
            <a:ext cx="5394600" cy="25560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1"/>
          <p:cNvSpPr/>
          <p:nvPr/>
        </p:nvSpPr>
        <p:spPr>
          <a:xfrm>
            <a:off x="1691640" y="2267640"/>
            <a:ext cx="1198440" cy="109440"/>
          </a:xfrm>
          <a:prstGeom prst="rect">
            <a:avLst/>
          </a:prstGeom>
          <a:solidFill>
            <a:srgbClr val="00d8d6"/>
          </a:solidFill>
          <a:ln w="12700">
            <a:solidFill>
              <a:srgbClr val="00d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2"/>
          <p:cNvSpPr/>
          <p:nvPr/>
        </p:nvSpPr>
        <p:spPr>
          <a:xfrm>
            <a:off x="1691640" y="2414160"/>
            <a:ext cx="2730600" cy="109440"/>
          </a:xfrm>
          <a:prstGeom prst="rect">
            <a:avLst/>
          </a:prstGeom>
          <a:solidFill>
            <a:srgbClr val="9a79ff"/>
          </a:solidFill>
          <a:ln w="12700">
            <a:solidFill>
              <a:srgbClr val="9a7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3"/>
          <p:cNvSpPr/>
          <p:nvPr/>
        </p:nvSpPr>
        <p:spPr>
          <a:xfrm>
            <a:off x="7159680" y="2249280"/>
            <a:ext cx="3196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00d8d6"/>
                </a:solidFill>
                <a:effectLst/>
                <a:uFillTx/>
                <a:latin typeface="Aptos"/>
              </a:rPr>
              <a:t>36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4"/>
          <p:cNvSpPr/>
          <p:nvPr/>
        </p:nvSpPr>
        <p:spPr>
          <a:xfrm>
            <a:off x="7159680" y="2404800"/>
            <a:ext cx="3196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9a79ff"/>
                </a:solidFill>
                <a:effectLst/>
                <a:uFillTx/>
                <a:latin typeface="Aptos"/>
              </a:rPr>
              <a:t>82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5"/>
          <p:cNvSpPr/>
          <p:nvPr/>
        </p:nvSpPr>
        <p:spPr>
          <a:xfrm>
            <a:off x="658440" y="3218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Maze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6"/>
          <p:cNvSpPr/>
          <p:nvPr/>
        </p:nvSpPr>
        <p:spPr>
          <a:xfrm>
            <a:off x="1691640" y="3054240"/>
            <a:ext cx="5394600" cy="25560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7"/>
          <p:cNvSpPr/>
          <p:nvPr/>
        </p:nvSpPr>
        <p:spPr>
          <a:xfrm>
            <a:off x="1691640" y="3054240"/>
            <a:ext cx="765720" cy="109440"/>
          </a:xfrm>
          <a:prstGeom prst="rect">
            <a:avLst/>
          </a:prstGeom>
          <a:solidFill>
            <a:srgbClr val="00d8d6"/>
          </a:solidFill>
          <a:ln w="12700">
            <a:solidFill>
              <a:srgbClr val="00d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8"/>
          <p:cNvSpPr/>
          <p:nvPr/>
        </p:nvSpPr>
        <p:spPr>
          <a:xfrm>
            <a:off x="1691640" y="3200400"/>
            <a:ext cx="3762720" cy="109440"/>
          </a:xfrm>
          <a:prstGeom prst="rect">
            <a:avLst/>
          </a:prstGeom>
          <a:solidFill>
            <a:srgbClr val="9a79ff"/>
          </a:solidFill>
          <a:ln w="12700">
            <a:solidFill>
              <a:srgbClr val="9a7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9"/>
          <p:cNvSpPr/>
          <p:nvPr/>
        </p:nvSpPr>
        <p:spPr>
          <a:xfrm>
            <a:off x="7159680" y="3035880"/>
            <a:ext cx="3196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00d8d6"/>
                </a:solidFill>
                <a:effectLst/>
                <a:uFillTx/>
                <a:latin typeface="Aptos"/>
              </a:rPr>
              <a:t>23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0"/>
          <p:cNvSpPr/>
          <p:nvPr/>
        </p:nvSpPr>
        <p:spPr>
          <a:xfrm>
            <a:off x="7159680" y="3191400"/>
            <a:ext cx="3196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9a79ff"/>
                </a:solidFill>
                <a:effectLst/>
                <a:uFillTx/>
                <a:latin typeface="Aptos"/>
              </a:rPr>
              <a:t>113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1"/>
          <p:cNvSpPr/>
          <p:nvPr/>
        </p:nvSpPr>
        <p:spPr>
          <a:xfrm>
            <a:off x="658440" y="400500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Multiple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2"/>
          <p:cNvSpPr/>
          <p:nvPr/>
        </p:nvSpPr>
        <p:spPr>
          <a:xfrm>
            <a:off x="1691640" y="3840480"/>
            <a:ext cx="5394600" cy="25560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3"/>
          <p:cNvSpPr/>
          <p:nvPr/>
        </p:nvSpPr>
        <p:spPr>
          <a:xfrm>
            <a:off x="1691640" y="3840480"/>
            <a:ext cx="1464840" cy="109440"/>
          </a:xfrm>
          <a:prstGeom prst="rect">
            <a:avLst/>
          </a:prstGeom>
          <a:solidFill>
            <a:srgbClr val="00d8d6"/>
          </a:solidFill>
          <a:ln w="12700">
            <a:solidFill>
              <a:srgbClr val="00d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4"/>
          <p:cNvSpPr/>
          <p:nvPr/>
        </p:nvSpPr>
        <p:spPr>
          <a:xfrm>
            <a:off x="1691640" y="3986640"/>
            <a:ext cx="4029120" cy="109440"/>
          </a:xfrm>
          <a:prstGeom prst="rect">
            <a:avLst/>
          </a:prstGeom>
          <a:solidFill>
            <a:srgbClr val="9a79ff"/>
          </a:solidFill>
          <a:ln w="12700">
            <a:solidFill>
              <a:srgbClr val="9a7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5"/>
          <p:cNvSpPr/>
          <p:nvPr/>
        </p:nvSpPr>
        <p:spPr>
          <a:xfrm>
            <a:off x="7159680" y="3822120"/>
            <a:ext cx="3196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00d8d6"/>
                </a:solidFill>
                <a:effectLst/>
                <a:uFillTx/>
                <a:latin typeface="Aptos"/>
              </a:rPr>
              <a:t>44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6"/>
          <p:cNvSpPr/>
          <p:nvPr/>
        </p:nvSpPr>
        <p:spPr>
          <a:xfrm>
            <a:off x="7159680" y="3977640"/>
            <a:ext cx="3196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9a79ff"/>
                </a:solidFill>
                <a:effectLst/>
                <a:uFillTx/>
                <a:latin typeface="Aptos"/>
              </a:rPr>
              <a:t>121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7"/>
          <p:cNvSpPr/>
          <p:nvPr/>
        </p:nvSpPr>
        <p:spPr>
          <a:xfrm>
            <a:off x="658440" y="479160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Expert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28"/>
          <p:cNvSpPr/>
          <p:nvPr/>
        </p:nvSpPr>
        <p:spPr>
          <a:xfrm>
            <a:off x="1691640" y="4626720"/>
            <a:ext cx="5394600" cy="25560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9"/>
          <p:cNvSpPr/>
          <p:nvPr/>
        </p:nvSpPr>
        <p:spPr>
          <a:xfrm>
            <a:off x="1691640" y="4626720"/>
            <a:ext cx="965520" cy="109440"/>
          </a:xfrm>
          <a:prstGeom prst="rect">
            <a:avLst/>
          </a:prstGeom>
          <a:solidFill>
            <a:srgbClr val="00d8d6"/>
          </a:solidFill>
          <a:ln w="12700">
            <a:solidFill>
              <a:srgbClr val="00d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30"/>
          <p:cNvSpPr/>
          <p:nvPr/>
        </p:nvSpPr>
        <p:spPr>
          <a:xfrm>
            <a:off x="1691640" y="4773240"/>
            <a:ext cx="5394600" cy="109440"/>
          </a:xfrm>
          <a:prstGeom prst="rect">
            <a:avLst/>
          </a:prstGeom>
          <a:solidFill>
            <a:srgbClr val="9a79ff"/>
          </a:solidFill>
          <a:ln w="12700">
            <a:solidFill>
              <a:srgbClr val="9a7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31"/>
          <p:cNvSpPr/>
          <p:nvPr/>
        </p:nvSpPr>
        <p:spPr>
          <a:xfrm>
            <a:off x="7159680" y="4608720"/>
            <a:ext cx="3196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00d8d6"/>
                </a:solidFill>
                <a:effectLst/>
                <a:uFillTx/>
                <a:latin typeface="Aptos"/>
              </a:rPr>
              <a:t>29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2"/>
          <p:cNvSpPr/>
          <p:nvPr/>
        </p:nvSpPr>
        <p:spPr>
          <a:xfrm>
            <a:off x="7159680" y="4763880"/>
            <a:ext cx="3196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9a79ff"/>
                </a:solidFill>
                <a:effectLst/>
                <a:uFillTx/>
                <a:latin typeface="Aptos"/>
              </a:rPr>
              <a:t>162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3"/>
          <p:cNvSpPr/>
          <p:nvPr/>
        </p:nvSpPr>
        <p:spPr>
          <a:xfrm>
            <a:off x="1691640" y="5623560"/>
            <a:ext cx="1005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0d8d6"/>
                </a:solidFill>
                <a:effectLst/>
                <a:uFillTx/>
                <a:latin typeface="Aptos"/>
              </a:rPr>
              <a:t>A* explored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4"/>
          <p:cNvSpPr/>
          <p:nvPr/>
        </p:nvSpPr>
        <p:spPr>
          <a:xfrm>
            <a:off x="2816280" y="5623560"/>
            <a:ext cx="1005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9a79ff"/>
                </a:solidFill>
                <a:effectLst/>
                <a:uFillTx/>
                <a:latin typeface="Aptos"/>
              </a:rPr>
              <a:t>BFS explored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5"/>
          <p:cNvSpPr/>
          <p:nvPr/>
        </p:nvSpPr>
        <p:spPr>
          <a:xfrm>
            <a:off x="7818120" y="137160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18d89b"/>
                </a:solidFill>
                <a:effectLst/>
                <a:uFillTx/>
                <a:latin typeface="Aptos"/>
              </a:rPr>
              <a:t>73.85%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6"/>
          <p:cNvSpPr/>
          <p:nvPr/>
        </p:nvSpPr>
        <p:spPr>
          <a:xfrm>
            <a:off x="7909560" y="2103120"/>
            <a:ext cx="2971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average reduction in explored nodes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37"/>
          <p:cNvSpPr/>
          <p:nvPr/>
        </p:nvSpPr>
        <p:spPr>
          <a:xfrm>
            <a:off x="7790760" y="2788920"/>
            <a:ext cx="3337200" cy="109692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38"/>
          <p:cNvSpPr/>
          <p:nvPr/>
        </p:nvSpPr>
        <p:spPr>
          <a:xfrm>
            <a:off x="7790760" y="2788920"/>
            <a:ext cx="54360" cy="1096920"/>
          </a:xfrm>
          <a:prstGeom prst="rect">
            <a:avLst/>
          </a:prstGeom>
          <a:solidFill>
            <a:srgbClr val="00d8d6"/>
          </a:solidFill>
          <a:ln w="12700">
            <a:solidFill>
              <a:srgbClr val="00d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39"/>
          <p:cNvSpPr/>
          <p:nvPr/>
        </p:nvSpPr>
        <p:spPr>
          <a:xfrm>
            <a:off x="7992000" y="2953440"/>
            <a:ext cx="2934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Easy Rescue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40"/>
          <p:cNvSpPr/>
          <p:nvPr/>
        </p:nvSpPr>
        <p:spPr>
          <a:xfrm>
            <a:off x="7992000" y="3319200"/>
            <a:ext cx="2934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Same optimal cost: 14 moves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A*: 15 explored · BFS: 88 explored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41"/>
          <p:cNvSpPr/>
          <p:nvPr/>
        </p:nvSpPr>
        <p:spPr>
          <a:xfrm>
            <a:off x="7790760" y="4133160"/>
            <a:ext cx="3337200" cy="109692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42"/>
          <p:cNvSpPr/>
          <p:nvPr/>
        </p:nvSpPr>
        <p:spPr>
          <a:xfrm>
            <a:off x="7790760" y="4133160"/>
            <a:ext cx="54360" cy="1096920"/>
          </a:xfrm>
          <a:prstGeom prst="rect">
            <a:avLst/>
          </a:prstGeom>
          <a:solidFill>
            <a:srgbClr val="18d89b"/>
          </a:solidFill>
          <a:ln w="12700">
            <a:solidFill>
              <a:srgbClr val="18d8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43"/>
          <p:cNvSpPr/>
          <p:nvPr/>
        </p:nvSpPr>
        <p:spPr>
          <a:xfrm>
            <a:off x="7992000" y="4297680"/>
            <a:ext cx="2934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Correctness signal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44"/>
          <p:cNvSpPr/>
          <p:nvPr/>
        </p:nvSpPr>
        <p:spPr>
          <a:xfrm>
            <a:off x="7992000" y="4663440"/>
            <a:ext cx="2934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Across all five measured maps, A* and BFS returned equal shortest-path costs.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45"/>
          <p:cNvSpPr/>
          <p:nvPr/>
        </p:nvSpPr>
        <p:spPr>
          <a:xfrm>
            <a:off x="7863840" y="5532120"/>
            <a:ext cx="3017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Measured costs: 14 · 15 · 22 · 17 · 28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46"/>
          <p:cNvSpPr/>
          <p:nvPr/>
        </p:nvSpPr>
        <p:spPr>
          <a:xfrm>
            <a:off x="567000" y="6565320"/>
            <a:ext cx="36572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119" strike="noStrike" u="none">
                <a:solidFill>
                  <a:srgbClr val="4e6c7a"/>
                </a:solidFill>
                <a:effectLst/>
                <a:uFillTx/>
                <a:latin typeface="Aptos"/>
              </a:rPr>
              <a:t>AI RESCUE MISSION  /  CSE  /  2026</a:t>
            </a:r>
            <a:endParaRPr b="0" lang="en-US" sz="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 0"/>
          <p:cNvSpPr/>
          <p:nvPr/>
        </p:nvSpPr>
        <p:spPr>
          <a:xfrm>
            <a:off x="567000" y="31104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01" strike="noStrike" u="none">
                <a:solidFill>
                  <a:srgbClr val="00d8d6"/>
                </a:solidFill>
                <a:effectLst/>
                <a:uFillTx/>
                <a:latin typeface="Aptos"/>
                <a:ea typeface="Aptos"/>
              </a:rPr>
              <a:t>WHAT STUDENTS CAN DEMONSTRATE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"/>
          <p:cNvSpPr/>
          <p:nvPr/>
        </p:nvSpPr>
        <p:spPr>
          <a:xfrm>
            <a:off x="567000" y="62172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ecf7fa"/>
                </a:solidFill>
                <a:effectLst/>
                <a:uFillTx/>
                <a:latin typeface="Aptos Display"/>
                <a:ea typeface="Aptos Display"/>
              </a:rPr>
              <a:t>Learning Outcomes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"/>
          <p:cNvSpPr/>
          <p:nvPr/>
        </p:nvSpPr>
        <p:spPr>
          <a:xfrm>
            <a:off x="11155680" y="34740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12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3"/>
          <p:cNvSpPr/>
          <p:nvPr/>
        </p:nvSpPr>
        <p:spPr>
          <a:xfrm>
            <a:off x="640080" y="1325880"/>
            <a:ext cx="3401280" cy="187416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4"/>
          <p:cNvSpPr/>
          <p:nvPr/>
        </p:nvSpPr>
        <p:spPr>
          <a:xfrm>
            <a:off x="640080" y="1325880"/>
            <a:ext cx="54360" cy="1874160"/>
          </a:xfrm>
          <a:prstGeom prst="rect">
            <a:avLst/>
          </a:prstGeom>
          <a:solidFill>
            <a:srgbClr val="00d8d6"/>
          </a:solidFill>
          <a:ln w="12700">
            <a:solidFill>
              <a:srgbClr val="00d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5"/>
          <p:cNvSpPr/>
          <p:nvPr/>
        </p:nvSpPr>
        <p:spPr>
          <a:xfrm>
            <a:off x="822960" y="148140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d8d6"/>
                </a:solidFill>
                <a:effectLst/>
                <a:uFillTx/>
                <a:latin typeface="Aptos"/>
              </a:rPr>
              <a:t>✓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6"/>
          <p:cNvSpPr/>
          <p:nvPr/>
        </p:nvSpPr>
        <p:spPr>
          <a:xfrm>
            <a:off x="1234440" y="1490400"/>
            <a:ext cx="262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FORMULATE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7"/>
          <p:cNvSpPr/>
          <p:nvPr/>
        </p:nvSpPr>
        <p:spPr>
          <a:xfrm>
            <a:off x="841320" y="1856160"/>
            <a:ext cx="2998800" cy="12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Model a rescue task using state, initial state, goal, actions, cost, and constraints.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8"/>
          <p:cNvSpPr/>
          <p:nvPr/>
        </p:nvSpPr>
        <p:spPr>
          <a:xfrm>
            <a:off x="4462200" y="1325880"/>
            <a:ext cx="3401280" cy="187416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9"/>
          <p:cNvSpPr/>
          <p:nvPr/>
        </p:nvSpPr>
        <p:spPr>
          <a:xfrm>
            <a:off x="4462200" y="1325880"/>
            <a:ext cx="54360" cy="1874160"/>
          </a:xfrm>
          <a:prstGeom prst="rect">
            <a:avLst/>
          </a:prstGeom>
          <a:solidFill>
            <a:srgbClr val="9a79ff"/>
          </a:solidFill>
          <a:ln w="12700">
            <a:solidFill>
              <a:srgbClr val="9a7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0"/>
          <p:cNvSpPr/>
          <p:nvPr/>
        </p:nvSpPr>
        <p:spPr>
          <a:xfrm>
            <a:off x="4645080" y="148140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9a79ff"/>
                </a:solidFill>
                <a:effectLst/>
                <a:uFillTx/>
                <a:latin typeface="Aptos"/>
              </a:rPr>
              <a:t>✓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1"/>
          <p:cNvSpPr/>
          <p:nvPr/>
        </p:nvSpPr>
        <p:spPr>
          <a:xfrm>
            <a:off x="5056560" y="1490400"/>
            <a:ext cx="262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CALCULATE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2"/>
          <p:cNvSpPr/>
          <p:nvPr/>
        </p:nvSpPr>
        <p:spPr>
          <a:xfrm>
            <a:off x="4663440" y="1856160"/>
            <a:ext cx="2998800" cy="12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Compute Manhattan, Euclidean, and Chebyshev estimates for selected coordinates.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3"/>
          <p:cNvSpPr/>
          <p:nvPr/>
        </p:nvSpPr>
        <p:spPr>
          <a:xfrm>
            <a:off x="8284320" y="1325880"/>
            <a:ext cx="3401280" cy="187416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4"/>
          <p:cNvSpPr/>
          <p:nvPr/>
        </p:nvSpPr>
        <p:spPr>
          <a:xfrm>
            <a:off x="8284320" y="1325880"/>
            <a:ext cx="54360" cy="1874160"/>
          </a:xfrm>
          <a:prstGeom prst="rect">
            <a:avLst/>
          </a:prstGeom>
          <a:solidFill>
            <a:srgbClr val="18d89b"/>
          </a:solidFill>
          <a:ln w="12700">
            <a:solidFill>
              <a:srgbClr val="18d8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5"/>
          <p:cNvSpPr/>
          <p:nvPr/>
        </p:nvSpPr>
        <p:spPr>
          <a:xfrm>
            <a:off x="8467200" y="148140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8d89b"/>
                </a:solidFill>
                <a:effectLst/>
                <a:uFillTx/>
                <a:latin typeface="Aptos"/>
              </a:rPr>
              <a:t>✓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6"/>
          <p:cNvSpPr/>
          <p:nvPr/>
        </p:nvSpPr>
        <p:spPr>
          <a:xfrm>
            <a:off x="8878680" y="1490400"/>
            <a:ext cx="262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TRACE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7"/>
          <p:cNvSpPr/>
          <p:nvPr/>
        </p:nvSpPr>
        <p:spPr>
          <a:xfrm>
            <a:off x="8485560" y="1856160"/>
            <a:ext cx="2998800" cy="12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Explain how open and closed sets evolve during A* search.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8"/>
          <p:cNvSpPr/>
          <p:nvPr/>
        </p:nvSpPr>
        <p:spPr>
          <a:xfrm>
            <a:off x="640080" y="3657600"/>
            <a:ext cx="3401280" cy="187416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9"/>
          <p:cNvSpPr/>
          <p:nvPr/>
        </p:nvSpPr>
        <p:spPr>
          <a:xfrm>
            <a:off x="640080" y="3657600"/>
            <a:ext cx="54360" cy="1874160"/>
          </a:xfrm>
          <a:prstGeom prst="rect">
            <a:avLst/>
          </a:prstGeom>
          <a:solidFill>
            <a:srgbClr val="00d8d6"/>
          </a:solidFill>
          <a:ln w="12700">
            <a:solidFill>
              <a:srgbClr val="00d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0"/>
          <p:cNvSpPr/>
          <p:nvPr/>
        </p:nvSpPr>
        <p:spPr>
          <a:xfrm>
            <a:off x="822960" y="381312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d8d6"/>
                </a:solidFill>
                <a:effectLst/>
                <a:uFillTx/>
                <a:latin typeface="Aptos"/>
              </a:rPr>
              <a:t>✓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1"/>
          <p:cNvSpPr/>
          <p:nvPr/>
        </p:nvSpPr>
        <p:spPr>
          <a:xfrm>
            <a:off x="1234440" y="3822120"/>
            <a:ext cx="262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COMPARE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2"/>
          <p:cNvSpPr/>
          <p:nvPr/>
        </p:nvSpPr>
        <p:spPr>
          <a:xfrm>
            <a:off x="841320" y="4187880"/>
            <a:ext cx="2998800" cy="12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Contrast uninformed BFS expansion with goal-directed A* expansion.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3"/>
          <p:cNvSpPr/>
          <p:nvPr/>
        </p:nvSpPr>
        <p:spPr>
          <a:xfrm>
            <a:off x="4462200" y="3657600"/>
            <a:ext cx="3401280" cy="187416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4"/>
          <p:cNvSpPr/>
          <p:nvPr/>
        </p:nvSpPr>
        <p:spPr>
          <a:xfrm>
            <a:off x="4462200" y="3657600"/>
            <a:ext cx="54360" cy="1874160"/>
          </a:xfrm>
          <a:prstGeom prst="rect">
            <a:avLst/>
          </a:prstGeom>
          <a:solidFill>
            <a:srgbClr val="9a79ff"/>
          </a:solidFill>
          <a:ln w="12700">
            <a:solidFill>
              <a:srgbClr val="9a7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5"/>
          <p:cNvSpPr/>
          <p:nvPr/>
        </p:nvSpPr>
        <p:spPr>
          <a:xfrm>
            <a:off x="4645080" y="381312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9a79ff"/>
                </a:solidFill>
                <a:effectLst/>
                <a:uFillTx/>
                <a:latin typeface="Aptos"/>
              </a:rPr>
              <a:t>✓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6"/>
          <p:cNvSpPr/>
          <p:nvPr/>
        </p:nvSpPr>
        <p:spPr>
          <a:xfrm>
            <a:off x="5056560" y="3822120"/>
            <a:ext cx="262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EVALUATE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7"/>
          <p:cNvSpPr/>
          <p:nvPr/>
        </p:nvSpPr>
        <p:spPr>
          <a:xfrm>
            <a:off x="4663440" y="4187880"/>
            <a:ext cx="2998800" cy="12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Use explored-node counts and path cost to judge search efficiency.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8"/>
          <p:cNvSpPr/>
          <p:nvPr/>
        </p:nvSpPr>
        <p:spPr>
          <a:xfrm>
            <a:off x="8284320" y="3657600"/>
            <a:ext cx="3401280" cy="1874160"/>
          </a:xfrm>
          <a:prstGeom prst="rect">
            <a:avLst/>
          </a:prstGeom>
          <a:solidFill>
            <a:srgbClr val="071421"/>
          </a:solidFill>
          <a:ln w="12700">
            <a:solidFill>
              <a:srgbClr val="17374a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29"/>
          <p:cNvSpPr/>
          <p:nvPr/>
        </p:nvSpPr>
        <p:spPr>
          <a:xfrm>
            <a:off x="8284320" y="3657600"/>
            <a:ext cx="54360" cy="1874160"/>
          </a:xfrm>
          <a:prstGeom prst="rect">
            <a:avLst/>
          </a:prstGeom>
          <a:solidFill>
            <a:srgbClr val="18d89b"/>
          </a:solidFill>
          <a:ln w="12700">
            <a:solidFill>
              <a:srgbClr val="18d8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0"/>
          <p:cNvSpPr/>
          <p:nvPr/>
        </p:nvSpPr>
        <p:spPr>
          <a:xfrm>
            <a:off x="8467200" y="381312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8d89b"/>
                </a:solidFill>
                <a:effectLst/>
                <a:uFillTx/>
                <a:latin typeface="Aptos"/>
              </a:rPr>
              <a:t>✓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31"/>
          <p:cNvSpPr/>
          <p:nvPr/>
        </p:nvSpPr>
        <p:spPr>
          <a:xfrm>
            <a:off x="8878680" y="3822120"/>
            <a:ext cx="262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APPLY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32"/>
          <p:cNvSpPr/>
          <p:nvPr/>
        </p:nvSpPr>
        <p:spPr>
          <a:xfrm>
            <a:off x="8485560" y="4187880"/>
            <a:ext cx="2998800" cy="12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Relate heuristic search to robotics, navigation, games, logistics, and route planning.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33"/>
          <p:cNvSpPr/>
          <p:nvPr/>
        </p:nvSpPr>
        <p:spPr>
          <a:xfrm>
            <a:off x="1143000" y="5897880"/>
            <a:ext cx="9920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The central takeaway: an admissible heuristic changes the order of exploration—not the correctness of the optimal answer.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34"/>
          <p:cNvSpPr/>
          <p:nvPr/>
        </p:nvSpPr>
        <p:spPr>
          <a:xfrm>
            <a:off x="567000" y="6565320"/>
            <a:ext cx="36572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119" strike="noStrike" u="none">
                <a:solidFill>
                  <a:srgbClr val="4e6c7a"/>
                </a:solidFill>
                <a:effectLst/>
                <a:uFillTx/>
                <a:latin typeface="Aptos"/>
              </a:rPr>
              <a:t>AI RESCUE MISSION  /  CSE  /  2026</a:t>
            </a:r>
            <a:endParaRPr b="0" lang="en-US" sz="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567000" y="31104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01" strike="noStrike" u="none">
                <a:solidFill>
                  <a:srgbClr val="00d8d6"/>
                </a:solidFill>
                <a:effectLst/>
                <a:uFillTx/>
                <a:latin typeface="Aptos"/>
                <a:ea typeface="Aptos"/>
              </a:rPr>
              <a:t>SOURCE BIBLIOGRAPHY  /  1 OF 2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567000" y="62172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ecf7fa"/>
                </a:solidFill>
                <a:effectLst/>
                <a:uFillTx/>
                <a:latin typeface="Aptos Display"/>
                <a:ea typeface="Aptos Display"/>
              </a:rPr>
              <a:t>References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11155680" y="34740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13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567000" y="6565320"/>
            <a:ext cx="36572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119" strike="noStrike" u="none">
                <a:solidFill>
                  <a:srgbClr val="4e6c7a"/>
                </a:solidFill>
                <a:effectLst/>
                <a:uFillTx/>
                <a:latin typeface="Aptos"/>
              </a:rPr>
              <a:t>AI RESCUE MISSION  /  CSE  /  2026</a:t>
            </a:r>
            <a:endParaRPr b="0" lang="en-US" sz="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21792" y="1417320"/>
            <a:ext cx="10927080" cy="1463040"/>
          </a:xfrm>
          <a:prstGeom prst="rect">
            <a:avLst/>
          </a:prstGeom>
          <a:solidFill>
            <a:srgbClr val="071522"/>
          </a:solidFill>
          <a:ln>
            <a:solidFill>
              <a:srgbClr val="244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9536" y="1618488"/>
            <a:ext cx="548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0D8D6"/>
                </a:solidFill>
                <a:latin typeface="Aptos"/>
              </a:defRPr>
            </a:pPr>
            <a:r>
              <a:t>[1]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81912" y="1618488"/>
            <a:ext cx="956462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ECF7FA"/>
                </a:solidFill>
                <a:latin typeface="Aptos"/>
              </a:defRPr>
            </a:pPr>
            <a:r>
              <a:t>Hart, P. E., Nilsson, N. J., &amp; Raphael, B. (1968). A Formal Basis for the Heuristic Determination of Minimum Cost Paths. IEEE Transactions on Systems Science and Cybernetics, 4(2), 100–107.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1792" y="3108960"/>
            <a:ext cx="10927080" cy="1005840"/>
          </a:xfrm>
          <a:prstGeom prst="rect">
            <a:avLst/>
          </a:prstGeom>
          <a:solidFill>
            <a:srgbClr val="071522"/>
          </a:solidFill>
          <a:ln>
            <a:solidFill>
              <a:srgbClr val="244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9536" y="3310128"/>
            <a:ext cx="548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0D8D6"/>
                </a:solidFill>
                <a:latin typeface="Aptos"/>
              </a:defRPr>
            </a:pPr>
            <a:r>
              <a:t>[2]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81912" y="3310128"/>
            <a:ext cx="956462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ECF7FA"/>
                </a:solidFill>
                <a:latin typeface="Aptos"/>
              </a:defRPr>
            </a:pPr>
            <a:r>
              <a:t>Russell, S. J., &amp; Norvig, P. (2021). Artificial Intelligence: A Modern Approach (4th ed.). Pearson.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1792" y="4343400"/>
            <a:ext cx="10927080" cy="1280160"/>
          </a:xfrm>
          <a:prstGeom prst="rect">
            <a:avLst/>
          </a:prstGeom>
          <a:solidFill>
            <a:srgbClr val="071522"/>
          </a:solidFill>
          <a:ln>
            <a:solidFill>
              <a:srgbClr val="244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9536" y="4544568"/>
            <a:ext cx="548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0D8D6"/>
                </a:solidFill>
                <a:latin typeface="Aptos"/>
              </a:defRPr>
            </a:pPr>
            <a:r>
              <a:t>[3]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81912" y="4544568"/>
            <a:ext cx="9564624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ECF7FA"/>
                </a:solidFill>
                <a:latin typeface="Aptos"/>
              </a:defRPr>
            </a:pPr>
            <a:r>
              <a:t>Patel, A. (2014). Introduction to the A* Algorithm. Red Blob Games.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81912" y="5148072"/>
            <a:ext cx="95646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D8D6"/>
                </a:solidFill>
                <a:latin typeface="Aptos"/>
              </a:defRPr>
            </a:pPr>
            <a:r>
              <a:rPr>
                <a:hlinkClick r:id="rId2"/>
              </a:rPr>
              <a:t>https://www.redblobgames.com/pathfinding/a-star/introduction.html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567000" y="31104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01" strike="noStrike" u="none">
                <a:solidFill>
                  <a:srgbClr val="00d8d6"/>
                </a:solidFill>
                <a:effectLst/>
                <a:uFillTx/>
                <a:latin typeface="Aptos"/>
                <a:ea typeface="Aptos"/>
              </a:rPr>
              <a:t>SOURCE BIBLIOGRAPHY  /  2 OF 2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567000" y="62172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ecf7fa"/>
                </a:solidFill>
                <a:effectLst/>
                <a:uFillTx/>
                <a:latin typeface="Aptos Display"/>
                <a:ea typeface="Aptos Display"/>
              </a:rPr>
              <a:t>References &amp; Implementation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11155680" y="34740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14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567000" y="6565320"/>
            <a:ext cx="36572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119" strike="noStrike" u="none">
                <a:solidFill>
                  <a:srgbClr val="4e6c7a"/>
                </a:solidFill>
                <a:effectLst/>
                <a:uFillTx/>
                <a:latin typeface="Aptos"/>
              </a:rPr>
              <a:t>AI RESCUE MISSION  /  CSE  /  2026</a:t>
            </a:r>
            <a:endParaRPr b="0" lang="en-US" sz="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21792" y="1417320"/>
            <a:ext cx="10927080" cy="1234440"/>
          </a:xfrm>
          <a:prstGeom prst="rect">
            <a:avLst/>
          </a:prstGeom>
          <a:solidFill>
            <a:srgbClr val="071522"/>
          </a:solidFill>
          <a:ln>
            <a:solidFill>
              <a:srgbClr val="244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9536" y="1618488"/>
            <a:ext cx="548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0D8D6"/>
                </a:solidFill>
                <a:latin typeface="Aptos"/>
              </a:defRPr>
            </a:pPr>
            <a:r>
              <a:t>[4]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81912" y="1618488"/>
            <a:ext cx="956462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ECF7FA"/>
                </a:solidFill>
                <a:latin typeface="Aptos"/>
              </a:defRPr>
            </a:pPr>
            <a:r>
              <a:t>Patel, A. Implementation of A*. Red Blob Games.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81912" y="2176272"/>
            <a:ext cx="95646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D8D6"/>
                </a:solidFill>
                <a:latin typeface="Aptos"/>
              </a:defRPr>
            </a:pPr>
            <a:r>
              <a:rPr>
                <a:hlinkClick r:id="rId2"/>
              </a:rPr>
              <a:t>https://www.redblobgames.com/pathfinding/a-star/implementation.html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1792" y="2880360"/>
            <a:ext cx="10927080" cy="1234440"/>
          </a:xfrm>
          <a:prstGeom prst="rect">
            <a:avLst/>
          </a:prstGeom>
          <a:solidFill>
            <a:srgbClr val="071522"/>
          </a:solidFill>
          <a:ln>
            <a:solidFill>
              <a:srgbClr val="244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9536" y="3081528"/>
            <a:ext cx="548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0D8D6"/>
                </a:solidFill>
                <a:latin typeface="Aptos"/>
              </a:defRPr>
            </a:pPr>
            <a:r>
              <a:t>[5]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81912" y="3081528"/>
            <a:ext cx="956462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ECF7FA"/>
                </a:solidFill>
                <a:latin typeface="Aptos"/>
              </a:defRPr>
            </a:pPr>
            <a:r>
              <a:t>Patel, A. Flow Field Pathfinding for Tower Defense. Red Blob Games.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81912" y="3639312"/>
            <a:ext cx="95646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D8D6"/>
                </a:solidFill>
                <a:latin typeface="Aptos"/>
              </a:defRPr>
            </a:pPr>
            <a:r>
              <a:rPr>
                <a:hlinkClick r:id="rId3"/>
              </a:rPr>
              <a:t>https://www.redblobgames.com/pathfinding/tower-defense/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1792" y="4590288"/>
            <a:ext cx="10927080" cy="1325880"/>
          </a:xfrm>
          <a:prstGeom prst="rect">
            <a:avLst/>
          </a:prstGeom>
          <a:solidFill>
            <a:srgbClr val="071522"/>
          </a:solidFill>
          <a:ln>
            <a:solidFill>
              <a:srgbClr val="244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9536" y="4782312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0D8D6"/>
                </a:solidFill>
                <a:latin typeface="Aptos"/>
              </a:defRPr>
            </a:pPr>
            <a:r>
              <a:t>PROJECT IMPLEMENTATION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9536" y="5175504"/>
            <a:ext cx="1014984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ECF7FA"/>
                </a:solidFill>
                <a:latin typeface="Aptos"/>
              </a:defRPr>
            </a:pPr>
            <a:r>
              <a:t>JavaScript-based A* Search Algorithm using Manhattan Distance as the heuristic function.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 0"/>
          <p:cNvSpPr/>
          <p:nvPr/>
        </p:nvSpPr>
        <p:spPr>
          <a:xfrm>
            <a:off x="567000" y="31104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01" strike="noStrike" u="none">
                <a:solidFill>
                  <a:srgbClr val="00d8d6"/>
                </a:solidFill>
                <a:effectLst/>
                <a:uFillTx/>
                <a:latin typeface="Aptos"/>
                <a:ea typeface="Aptos"/>
              </a:rPr>
              <a:t>PROJECT SUMMARY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"/>
          <p:cNvSpPr/>
          <p:nvPr/>
        </p:nvSpPr>
        <p:spPr>
          <a:xfrm>
            <a:off x="567000" y="62172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ecf7fa"/>
                </a:solidFill>
                <a:effectLst/>
                <a:uFillTx/>
                <a:latin typeface="Aptos Display"/>
                <a:ea typeface="Aptos Display"/>
              </a:rPr>
              <a:t>Conclusion &amp; Future Scope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"/>
          <p:cNvSpPr/>
          <p:nvPr/>
        </p:nvSpPr>
        <p:spPr>
          <a:xfrm>
            <a:off x="11155680" y="34740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15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3"/>
          <p:cNvSpPr/>
          <p:nvPr/>
        </p:nvSpPr>
        <p:spPr>
          <a:xfrm>
            <a:off x="658440" y="1371600"/>
            <a:ext cx="65833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AI Rescue Mission makes search intelligence visible.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4"/>
          <p:cNvSpPr/>
          <p:nvPr/>
        </p:nvSpPr>
        <p:spPr>
          <a:xfrm>
            <a:off x="694800" y="2148840"/>
            <a:ext cx="57603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Authentic A* and BFS share the same grid rules and produce traceable results.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The race turns path cost and heuristic guidance into meaningful gameplay.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The simulator connects formal equations to every generated and explored state.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The browser-only design is portable, private, and suitable for classroom demonstration.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5"/>
          <p:cNvSpPr/>
          <p:nvPr/>
        </p:nvSpPr>
        <p:spPr>
          <a:xfrm>
            <a:off x="6995160" y="1371600"/>
            <a:ext cx="4480200" cy="3474360"/>
          </a:xfrm>
          <a:prstGeom prst="rect">
            <a:avLst/>
          </a:prstGeom>
          <a:solidFill>
            <a:srgbClr val="071421"/>
          </a:solidFill>
          <a:ln w="12700">
            <a:solidFill>
              <a:srgbClr val="9a7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6"/>
          <p:cNvSpPr/>
          <p:nvPr/>
        </p:nvSpPr>
        <p:spPr>
          <a:xfrm>
            <a:off x="7315200" y="168264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50" strike="noStrike" u="none">
                <a:solidFill>
                  <a:srgbClr val="9a79ff"/>
                </a:solidFill>
                <a:effectLst/>
                <a:uFillTx/>
                <a:latin typeface="Aptos"/>
              </a:rPr>
              <a:t>FUTURE SCOPE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7"/>
          <p:cNvSpPr/>
          <p:nvPr/>
        </p:nvSpPr>
        <p:spPr>
          <a:xfrm>
            <a:off x="7315200" y="2176200"/>
            <a:ext cx="365724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Weighted terrain and diagonal movement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Dynamic obstacle re-planning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Additional heuristics and Dijkstra mode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Accessible difficulty presets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ecf7fa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Optional export of trace data for lab records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8"/>
          <p:cNvSpPr/>
          <p:nvPr/>
        </p:nvSpPr>
        <p:spPr>
          <a:xfrm>
            <a:off x="640080" y="5559480"/>
            <a:ext cx="3474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0d8d6"/>
                </a:solidFill>
                <a:effectLst/>
                <a:uFillTx/>
                <a:latin typeface="Aptos"/>
              </a:rPr>
              <a:t>THANK YOU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9"/>
          <p:cNvSpPr/>
          <p:nvPr/>
        </p:nvSpPr>
        <p:spPr>
          <a:xfrm>
            <a:off x="4160520" y="56509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8da6b5"/>
                </a:solidFill>
                <a:effectLst/>
                <a:uFillTx/>
                <a:latin typeface="Aptos"/>
              </a:rPr>
              <a:t>Questions &amp; demonstration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0"/>
          <p:cNvSpPr/>
          <p:nvPr/>
        </p:nvSpPr>
        <p:spPr>
          <a:xfrm>
            <a:off x="7406640" y="56509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ecf7fa"/>
                </a:solidFill>
                <a:effectLst/>
                <a:uFillTx/>
                <a:latin typeface="Aptos"/>
              </a:rPr>
              <a:t>Mukhesh Kumaar R S  ·  Yuvaraja A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1"/>
          <p:cNvSpPr/>
          <p:nvPr/>
        </p:nvSpPr>
        <p:spPr>
          <a:xfrm>
            <a:off x="567000" y="6565320"/>
            <a:ext cx="36572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119" strike="noStrike" u="none">
                <a:solidFill>
                  <a:srgbClr val="4e6c7a"/>
                </a:solidFill>
                <a:effectLst/>
                <a:uFillTx/>
                <a:latin typeface="Aptos"/>
              </a:rPr>
              <a:t>AI RESCUE MISSION  /  CSE  /  2026</a:t>
            </a:r>
            <a:endParaRPr b="0" lang="en-US" sz="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LibreOffice/25.2.6.2$Linux_X86_64 LibreOffice_project/520$Build-2</Application>
  <AppVersion>15.0000</AppVersion>
  <Words>0</Words>
  <Paragraphs>0</Paragraphs>
  <Company>Rajalakshmi Engineering College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2026-09-22T04:34:17Z</dcterms:created>
  <dc:creator>Mukhesh Kumaar R S; Yuvaraja A</dc:creator>
  <dc:description/>
  <dc:language>en-US</dc:language>
  <cp:lastModifiedBy>Mukhesh Kumaar R S; Yuvaraja A</cp:lastModifiedBy>
  <dcterms:modified xsi:type="dcterms:W3CDTF">2026-09-22T04:34:17Z</dcterms:modified>
  <cp:revision>1</cp:revision>
  <dc:subject>Foundation of Artificial Intelligence project presentation</dc:subject>
  <dc:title>AI Rescue Mission: Find the Best Path Using Heuristic Search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12</vt:r8>
  </property>
  <property fmtid="{D5CDD505-2E9C-101B-9397-08002B2CF9AE}" pid="3" name="PresentationFormat">
    <vt:lpwstr>On-screen Show (16:9)</vt:lpwstr>
  </property>
  <property fmtid="{D5CDD505-2E9C-101B-9397-08002B2CF9AE}" pid="4" name="Slides">
    <vt:r8>12</vt:r8>
  </property>
</Properties>
</file>